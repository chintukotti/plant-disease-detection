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74" r:id="rId2"/>
    <p:sldId id="275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2" r:id="rId19"/>
    <p:sldId id="271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-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ED7727-0E46-4C5A-8DA1-C22FF0665351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6B93E8-D181-4CAE-9D79-B4A52221D5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4066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9FE1E-28F3-4169-A2FE-41D86FF87C1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8951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10" Type="http://schemas.openxmlformats.org/officeDocument/2006/relationships/image" Target="../media/image69.jpg"/><Relationship Id="rId4" Type="http://schemas.openxmlformats.org/officeDocument/2006/relationships/image" Target="../media/image63.png"/><Relationship Id="rId9" Type="http://schemas.openxmlformats.org/officeDocument/2006/relationships/image" Target="../media/image6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10" Type="http://schemas.openxmlformats.org/officeDocument/2006/relationships/image" Target="../media/image78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86.png"/><Relationship Id="rId3" Type="http://schemas.openxmlformats.org/officeDocument/2006/relationships/image" Target="../media/image43.png"/><Relationship Id="rId7" Type="http://schemas.openxmlformats.org/officeDocument/2006/relationships/image" Target="../media/image44.png"/><Relationship Id="rId12" Type="http://schemas.openxmlformats.org/officeDocument/2006/relationships/image" Target="../media/image85.png"/><Relationship Id="rId2" Type="http://schemas.openxmlformats.org/officeDocument/2006/relationships/image" Target="../media/image79.png"/><Relationship Id="rId16" Type="http://schemas.openxmlformats.org/officeDocument/2006/relationships/image" Target="../media/image8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84.png"/><Relationship Id="rId5" Type="http://schemas.openxmlformats.org/officeDocument/2006/relationships/image" Target="../media/image68.png"/><Relationship Id="rId15" Type="http://schemas.openxmlformats.org/officeDocument/2006/relationships/image" Target="../media/image88.png"/><Relationship Id="rId10" Type="http://schemas.openxmlformats.org/officeDocument/2006/relationships/image" Target="../media/image83.png"/><Relationship Id="rId4" Type="http://schemas.openxmlformats.org/officeDocument/2006/relationships/image" Target="../media/image80.png"/><Relationship Id="rId9" Type="http://schemas.openxmlformats.org/officeDocument/2006/relationships/image" Target="../media/image82.png"/><Relationship Id="rId14" Type="http://schemas.openxmlformats.org/officeDocument/2006/relationships/image" Target="../media/image8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91.png"/><Relationship Id="rId7" Type="http://schemas.openxmlformats.org/officeDocument/2006/relationships/image" Target="../media/image93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2.png"/><Relationship Id="rId11" Type="http://schemas.openxmlformats.org/officeDocument/2006/relationships/image" Target="../media/image96.png"/><Relationship Id="rId5" Type="http://schemas.openxmlformats.org/officeDocument/2006/relationships/image" Target="../media/image5.png"/><Relationship Id="rId10" Type="http://schemas.openxmlformats.org/officeDocument/2006/relationships/image" Target="../media/image95.png"/><Relationship Id="rId4" Type="http://schemas.openxmlformats.org/officeDocument/2006/relationships/image" Target="../media/image68.png"/><Relationship Id="rId9" Type="http://schemas.openxmlformats.org/officeDocument/2006/relationships/image" Target="../media/image5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image" Target="../media/image98.png"/><Relationship Id="rId7" Type="http://schemas.openxmlformats.org/officeDocument/2006/relationships/image" Target="../media/image102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Relationship Id="rId9" Type="http://schemas.openxmlformats.org/officeDocument/2006/relationships/image" Target="../media/image10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114.png"/><Relationship Id="rId3" Type="http://schemas.openxmlformats.org/officeDocument/2006/relationships/image" Target="../media/image106.png"/><Relationship Id="rId7" Type="http://schemas.openxmlformats.org/officeDocument/2006/relationships/image" Target="../media/image109.png"/><Relationship Id="rId12" Type="http://schemas.openxmlformats.org/officeDocument/2006/relationships/image" Target="../media/image95.png"/><Relationship Id="rId2" Type="http://schemas.openxmlformats.org/officeDocument/2006/relationships/image" Target="../media/image105.png"/><Relationship Id="rId16" Type="http://schemas.openxmlformats.org/officeDocument/2006/relationships/image" Target="../media/image1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8.png"/><Relationship Id="rId11" Type="http://schemas.openxmlformats.org/officeDocument/2006/relationships/image" Target="../media/image113.png"/><Relationship Id="rId5" Type="http://schemas.openxmlformats.org/officeDocument/2006/relationships/image" Target="../media/image107.png"/><Relationship Id="rId15" Type="http://schemas.openxmlformats.org/officeDocument/2006/relationships/image" Target="../media/image116.png"/><Relationship Id="rId10" Type="http://schemas.openxmlformats.org/officeDocument/2006/relationships/image" Target="../media/image112.png"/><Relationship Id="rId4" Type="http://schemas.openxmlformats.org/officeDocument/2006/relationships/image" Target="../media/image70.png"/><Relationship Id="rId9" Type="http://schemas.openxmlformats.org/officeDocument/2006/relationships/image" Target="../media/image111.png"/><Relationship Id="rId14" Type="http://schemas.openxmlformats.org/officeDocument/2006/relationships/image" Target="../media/image11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126.png"/><Relationship Id="rId3" Type="http://schemas.openxmlformats.org/officeDocument/2006/relationships/image" Target="../media/image68.png"/><Relationship Id="rId7" Type="http://schemas.openxmlformats.org/officeDocument/2006/relationships/image" Target="../media/image120.png"/><Relationship Id="rId12" Type="http://schemas.openxmlformats.org/officeDocument/2006/relationships/image" Target="../media/image1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9.png"/><Relationship Id="rId11" Type="http://schemas.openxmlformats.org/officeDocument/2006/relationships/image" Target="../media/image124.png"/><Relationship Id="rId5" Type="http://schemas.openxmlformats.org/officeDocument/2006/relationships/image" Target="../media/image91.png"/><Relationship Id="rId10" Type="http://schemas.openxmlformats.org/officeDocument/2006/relationships/image" Target="../media/image123.png"/><Relationship Id="rId4" Type="http://schemas.openxmlformats.org/officeDocument/2006/relationships/image" Target="../media/image118.png"/><Relationship Id="rId9" Type="http://schemas.openxmlformats.org/officeDocument/2006/relationships/image" Target="../media/image12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13" Type="http://schemas.openxmlformats.org/officeDocument/2006/relationships/image" Target="../media/image93.png"/><Relationship Id="rId3" Type="http://schemas.openxmlformats.org/officeDocument/2006/relationships/image" Target="../media/image27.png"/><Relationship Id="rId7" Type="http://schemas.openxmlformats.org/officeDocument/2006/relationships/image" Target="../media/image132.png"/><Relationship Id="rId12" Type="http://schemas.openxmlformats.org/officeDocument/2006/relationships/image" Target="../media/image137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1.png"/><Relationship Id="rId11" Type="http://schemas.openxmlformats.org/officeDocument/2006/relationships/image" Target="../media/image136.png"/><Relationship Id="rId5" Type="http://schemas.openxmlformats.org/officeDocument/2006/relationships/image" Target="../media/image130.png"/><Relationship Id="rId10" Type="http://schemas.openxmlformats.org/officeDocument/2006/relationships/image" Target="../media/image135.png"/><Relationship Id="rId4" Type="http://schemas.openxmlformats.org/officeDocument/2006/relationships/image" Target="../media/image129.png"/><Relationship Id="rId9" Type="http://schemas.openxmlformats.org/officeDocument/2006/relationships/image" Target="../media/image1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85E5F54-4D36-8CBB-687A-49D99851CA77}"/>
              </a:ext>
            </a:extLst>
          </p:cNvPr>
          <p:cNvSpPr txBox="1"/>
          <p:nvPr/>
        </p:nvSpPr>
        <p:spPr>
          <a:xfrm>
            <a:off x="3586314" y="2905780"/>
            <a:ext cx="50193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Algerian" panose="04020705040A02060702" pitchFamily="82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MINI PROJECT  - E3-SEM2  2025 - 2026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5062F19-8CE8-D561-95E2-4928FDE26CFD}"/>
              </a:ext>
            </a:extLst>
          </p:cNvPr>
          <p:cNvGrpSpPr/>
          <p:nvPr/>
        </p:nvGrpSpPr>
        <p:grpSpPr>
          <a:xfrm>
            <a:off x="6096000" y="4483518"/>
            <a:ext cx="3372503" cy="1686441"/>
            <a:chOff x="8032916" y="4444701"/>
            <a:chExt cx="3090846" cy="138586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4780823-4633-4D6E-AD67-0A8D8235EEB2}"/>
                </a:ext>
              </a:extLst>
            </p:cNvPr>
            <p:cNvSpPr txBox="1"/>
            <p:nvPr/>
          </p:nvSpPr>
          <p:spPr>
            <a:xfrm>
              <a:off x="8033662" y="4444701"/>
              <a:ext cx="3029932" cy="323422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100" b="1" dirty="0">
                  <a:latin typeface="Poppins"/>
                </a:rPr>
                <a:t>KOTTI SATYANARAYANA		S210052</a:t>
              </a:r>
              <a:endParaRPr sz="1100" b="1" dirty="0">
                <a:latin typeface="Poppins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3087457-F1F8-DC03-7D0C-99EE473C9DF2}"/>
                </a:ext>
              </a:extLst>
            </p:cNvPr>
            <p:cNvSpPr txBox="1"/>
            <p:nvPr/>
          </p:nvSpPr>
          <p:spPr>
            <a:xfrm>
              <a:off x="8032916" y="4709605"/>
              <a:ext cx="3090846" cy="327013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100" b="1" dirty="0">
                  <a:latin typeface="Poppins"/>
                </a:rPr>
                <a:t>PASILA PRUDHVI			S210503</a:t>
              </a:r>
              <a:endParaRPr sz="1100" b="1" dirty="0">
                <a:latin typeface="Poppin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943CDA2-B20B-49BC-BE3B-A4AAC4861F5E}"/>
                </a:ext>
              </a:extLst>
            </p:cNvPr>
            <p:cNvSpPr txBox="1"/>
            <p:nvPr/>
          </p:nvSpPr>
          <p:spPr>
            <a:xfrm>
              <a:off x="8033662" y="5005383"/>
              <a:ext cx="2784232" cy="265778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100" b="1">
                  <a:latin typeface="Poppins"/>
                </a:rPr>
                <a:t>PEDDINTI DINESH </a:t>
              </a:r>
              <a:r>
                <a:rPr lang="en-US" sz="1100" b="1" dirty="0">
                  <a:latin typeface="Poppins"/>
                </a:rPr>
                <a:t>KARTHIK		O210572</a:t>
              </a:r>
              <a:endParaRPr sz="1100" b="1" dirty="0">
                <a:latin typeface="Poppin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0D955B7-44A7-ECC6-2EF4-329C070C8540}"/>
                </a:ext>
              </a:extLst>
            </p:cNvPr>
            <p:cNvSpPr txBox="1"/>
            <p:nvPr/>
          </p:nvSpPr>
          <p:spPr>
            <a:xfrm>
              <a:off x="8032916" y="5241723"/>
              <a:ext cx="2997872" cy="323422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100" b="1" dirty="0">
                  <a:latin typeface="Poppins"/>
                </a:rPr>
                <a:t>VAJJA KIRAN			S210019</a:t>
              </a:r>
              <a:endParaRPr sz="1100" b="1" dirty="0">
                <a:latin typeface="Poppin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1847CCB-D079-6703-09AE-6767A8A2C298}"/>
                </a:ext>
              </a:extLst>
            </p:cNvPr>
            <p:cNvSpPr txBox="1"/>
            <p:nvPr/>
          </p:nvSpPr>
          <p:spPr>
            <a:xfrm>
              <a:off x="8032916" y="5503550"/>
              <a:ext cx="3055580" cy="327013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100" b="1" dirty="0">
                  <a:latin typeface="Poppins"/>
                </a:rPr>
                <a:t>MUDU JAHNAVI			S211005</a:t>
              </a:r>
              <a:endParaRPr sz="1100" b="1" dirty="0">
                <a:latin typeface="Poppins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1ECCD29D-22AF-7136-5E8E-9A4F1732B580}"/>
              </a:ext>
            </a:extLst>
          </p:cNvPr>
          <p:cNvSpPr txBox="1"/>
          <p:nvPr/>
        </p:nvSpPr>
        <p:spPr>
          <a:xfrm>
            <a:off x="5773993" y="4089451"/>
            <a:ext cx="2831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Team Members (3C) :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6E1D03-254F-A426-A30F-D463C356B6E1}"/>
              </a:ext>
            </a:extLst>
          </p:cNvPr>
          <p:cNvSpPr txBox="1"/>
          <p:nvPr/>
        </p:nvSpPr>
        <p:spPr>
          <a:xfrm>
            <a:off x="580805" y="4848690"/>
            <a:ext cx="3888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Guide : Mrs. Musidi Roopa </a:t>
            </a:r>
            <a:r>
              <a:rPr lang="en-IN" b="1" baseline="-25000" dirty="0"/>
              <a:t>M.Tech</a:t>
            </a:r>
          </a:p>
          <a:p>
            <a:r>
              <a:rPr lang="en-IN" dirty="0"/>
              <a:t>Assistant Professor</a:t>
            </a:r>
          </a:p>
          <a:p>
            <a:r>
              <a:rPr lang="en-IN" dirty="0"/>
              <a:t>Dept of Computer Science Engineering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347EAB-B84B-7FD7-53F2-63B734792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4634" y="297054"/>
            <a:ext cx="2402732" cy="2402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370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ED71D9-CBC8-2405-0997-C564996A8FAA}"/>
              </a:ext>
            </a:extLst>
          </p:cNvPr>
          <p:cNvSpPr txBox="1"/>
          <p:nvPr/>
        </p:nvSpPr>
        <p:spPr>
          <a:xfrm>
            <a:off x="1297858" y="829320"/>
            <a:ext cx="23597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Content: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B11A33-8E6A-0999-4FDD-F2C27FE04624}"/>
              </a:ext>
            </a:extLst>
          </p:cNvPr>
          <p:cNvSpPr txBox="1"/>
          <p:nvPr/>
        </p:nvSpPr>
        <p:spPr>
          <a:xfrm>
            <a:off x="2477729" y="1455174"/>
            <a:ext cx="3618271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Output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16741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B5E20"/>
            </a:gs>
            <a:gs pos="50000">
              <a:srgbClr val="2E7D32"/>
            </a:gs>
            <a:gs pos="100000">
              <a:srgbClr val="43A047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2916" y="825273"/>
            <a:ext cx="685782" cy="50210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2996" y="816088"/>
            <a:ext cx="685782" cy="5204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19269" y="1647825"/>
            <a:ext cx="7753156" cy="1714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5850"/>
              </a:lnSpc>
              <a:spcBef>
                <a:spcPts val="0"/>
              </a:spcBef>
              <a:spcAft>
                <a:spcPts val="2080"/>
              </a:spcAft>
            </a:pPr>
            <a:r>
              <a:rPr sz="4305" b="1">
                <a:solidFill>
                  <a:srgbClr val="FFFFFF"/>
                </a:solidFill>
                <a:latin typeface="Montserrat"/>
              </a:rPr>
              <a:t> AI-Based Crop Disease</a:t>
            </a:r>
            <a:r>
              <a:rPr sz="1104"/>
              <a:t>
</a:t>
            </a:r>
            <a:r>
              <a:rPr sz="4305" b="1">
                <a:solidFill>
                  <a:srgbClr val="FFFFFF"/>
                </a:solidFill>
                <a:latin typeface="Montserrat"/>
              </a:rPr>
              <a:t>Detection System 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262" y="3667124"/>
            <a:ext cx="1219169" cy="38100"/>
          </a:xfrm>
          <a:prstGeom prst="rect">
            <a:avLst/>
          </a:prstGeom>
          <a:gradFill rotWithShape="1">
            <a:gsLst>
              <a:gs pos="0">
                <a:srgbClr val="81C784"/>
              </a:gs>
              <a:gs pos="100000">
                <a:srgbClr val="A5D6A7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05012" y="4010024"/>
            <a:ext cx="7191195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3120"/>
              </a:spcAft>
            </a:pPr>
            <a:r>
              <a:rPr sz="1435" b="0">
                <a:solidFill>
                  <a:srgbClr val="FFFFFF"/>
                </a:solidFill>
                <a:latin typeface="Poppins"/>
              </a:rPr>
              <a:t>Deep Learning Solution for Real-Time Crop Health Monitoring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52516" y="4924424"/>
            <a:ext cx="2200219" cy="1200150"/>
          </a:xfrm>
          <a:prstGeom prst="roundRect">
            <a:avLst>
              <a:gd name="adj" fmla="val 19047"/>
            </a:avLst>
          </a:prstGeom>
          <a:solidFill>
            <a:srgbClr val="FFFFFF">
              <a:alpha val="1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90635" y="5162550"/>
            <a:ext cx="1723981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520"/>
              </a:spcAft>
            </a:pPr>
            <a:r>
              <a:rPr sz="2870" b="1">
                <a:solidFill>
                  <a:srgbClr val="FFFFFF"/>
                </a:solidFill>
                <a:latin typeface="Poppins"/>
              </a:rPr>
              <a:t>95%+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0635" y="5695949"/>
            <a:ext cx="172398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3F4F6"/>
                </a:solidFill>
                <a:latin typeface="Poppins"/>
              </a:rPr>
              <a:t>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81330" y="4924424"/>
            <a:ext cx="2200219" cy="1200150"/>
          </a:xfrm>
          <a:prstGeom prst="roundRect">
            <a:avLst>
              <a:gd name="adj" fmla="val 19047"/>
            </a:avLst>
          </a:prstGeom>
          <a:solidFill>
            <a:srgbClr val="FFFFFF">
              <a:alpha val="1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19449" y="5162550"/>
            <a:ext cx="1723981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520"/>
              </a:spcAft>
            </a:pPr>
            <a:r>
              <a:rPr sz="2870" b="1">
                <a:solidFill>
                  <a:srgbClr val="FFFFFF"/>
                </a:solidFill>
                <a:latin typeface="Poppins"/>
              </a:rPr>
              <a:t>&lt;120ms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19449" y="5695949"/>
            <a:ext cx="172398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3F4F6"/>
                </a:solidFill>
                <a:latin typeface="Poppins"/>
              </a:rPr>
              <a:t>Inference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0144" y="4924424"/>
            <a:ext cx="2200219" cy="1200150"/>
          </a:xfrm>
          <a:prstGeom prst="roundRect">
            <a:avLst>
              <a:gd name="adj" fmla="val 19047"/>
            </a:avLst>
          </a:prstGeom>
          <a:solidFill>
            <a:srgbClr val="FFFFFF">
              <a:alpha val="1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8263" y="5162550"/>
            <a:ext cx="1723981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520"/>
              </a:spcAft>
            </a:pPr>
            <a:r>
              <a:rPr sz="2870" b="1">
                <a:solidFill>
                  <a:srgbClr val="FFFFFF"/>
                </a:solidFill>
                <a:latin typeface="Poppins"/>
              </a:rPr>
              <a:t>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8263" y="5695949"/>
            <a:ext cx="172398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3F4F6"/>
                </a:solidFill>
                <a:latin typeface="Poppins"/>
              </a:rPr>
              <a:t>Disease Classes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38959" y="4924424"/>
            <a:ext cx="2200219" cy="1200150"/>
          </a:xfrm>
          <a:prstGeom prst="roundRect">
            <a:avLst>
              <a:gd name="adj" fmla="val 19047"/>
            </a:avLst>
          </a:prstGeom>
          <a:solidFill>
            <a:srgbClr val="FFFFFF">
              <a:alpha val="1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77078" y="5162550"/>
            <a:ext cx="1723981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520"/>
              </a:spcAft>
            </a:pPr>
            <a:r>
              <a:rPr sz="2870" b="1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77078" y="5695949"/>
            <a:ext cx="172398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3F4F6"/>
                </a:solidFill>
                <a:latin typeface="Poppins"/>
              </a:rPr>
              <a:t>Major Crops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81C784"/>
              </a:gs>
              <a:gs pos="50000">
                <a:srgbClr val="4CAF50"/>
              </a:gs>
              <a:gs pos="100000">
                <a:srgbClr val="2E7D32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1999"/>
          </a:xfrm>
          <a:prstGeom prst="rect">
            <a:avLst/>
          </a:prstGeom>
          <a:gradFill rotWithShape="1">
            <a:gsLst>
              <a:gs pos="0">
                <a:srgbClr val="2E7D32"/>
              </a:gs>
              <a:gs pos="100000">
                <a:srgbClr val="4CAF5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584" y="168889"/>
            <a:ext cx="1303498" cy="42421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ontserrat"/>
              </a:rPr>
              <a:t>Abstract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48383" y="1304925"/>
            <a:ext cx="3933726" cy="1809749"/>
          </a:xfrm>
          <a:prstGeom prst="roundRect">
            <a:avLst>
              <a:gd name="adj" fmla="val 1684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6809549" y="2143759"/>
            <a:ext cx="18097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91275" y="1670373"/>
            <a:ext cx="285742" cy="22160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91315" y="1603307"/>
            <a:ext cx="1819665" cy="35573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2E7D32"/>
                </a:solidFill>
                <a:latin typeface="Poppins"/>
              </a:rPr>
              <a:t>MobileNetV2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1275" y="2071947"/>
            <a:ext cx="2648417" cy="3138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74151"/>
                </a:solidFill>
                <a:latin typeface="Poppins"/>
              </a:rPr>
              <a:t>Lightweight transfer learning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91275" y="2429331"/>
            <a:ext cx="1285865" cy="41819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780"/>
              </a:spcBef>
              <a:spcAft>
                <a:spcPts val="0"/>
              </a:spcAft>
            </a:pPr>
            <a:r>
              <a:rPr sz="2400" b="1" dirty="0">
                <a:solidFill>
                  <a:srgbClr val="81C784"/>
                </a:solidFill>
                <a:latin typeface="Poppins"/>
              </a:rPr>
              <a:t>13.8 MB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48383" y="3343275"/>
            <a:ext cx="3933726" cy="1352549"/>
          </a:xfrm>
          <a:prstGeom prst="roundRect">
            <a:avLst>
              <a:gd name="adj" fmla="val 2253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7038149" y="3953509"/>
            <a:ext cx="13525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91275" y="3697060"/>
            <a:ext cx="285742" cy="24492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391315" y="3648709"/>
            <a:ext cx="1893403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2E7D32"/>
                </a:solidFill>
                <a:latin typeface="Poppins"/>
              </a:rPr>
              <a:t>Smart Diagnosis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91275" y="4110298"/>
            <a:ext cx="2734979" cy="3138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74151"/>
                </a:solidFill>
                <a:latin typeface="Poppins"/>
              </a:rPr>
              <a:t>Instant treatment recommendations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48383" y="4924424"/>
            <a:ext cx="3933726" cy="1352549"/>
          </a:xfrm>
          <a:prstGeom prst="roundRect">
            <a:avLst>
              <a:gd name="adj" fmla="val 2253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7038149" y="5534658"/>
            <a:ext cx="13525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91275" y="5284042"/>
            <a:ext cx="285742" cy="23326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391315" y="5229858"/>
            <a:ext cx="1659365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E7D32"/>
                </a:solidFill>
                <a:latin typeface="Poppins"/>
              </a:rPr>
              <a:t>Cost-Effective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91275" y="5691447"/>
            <a:ext cx="2999475" cy="3138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74151"/>
                </a:solidFill>
                <a:latin typeface="Poppins"/>
              </a:rPr>
              <a:t>Replaces expensive expert consultations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81C784"/>
              </a:gs>
              <a:gs pos="50000">
                <a:srgbClr val="4CAF50"/>
              </a:gs>
              <a:gs pos="100000">
                <a:srgbClr val="2E7D32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CE7DDB-CA67-B049-A001-9D16DA02A30A}"/>
              </a:ext>
            </a:extLst>
          </p:cNvPr>
          <p:cNvSpPr txBox="1"/>
          <p:nvPr/>
        </p:nvSpPr>
        <p:spPr>
          <a:xfrm>
            <a:off x="476239" y="2139884"/>
            <a:ext cx="6343491" cy="133998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rgbClr val="374151"/>
                </a:solidFill>
                <a:latin typeface="Poppins"/>
              </a:rPr>
              <a:t>AI-Based Crop Disease Detection System is a web application helping farmers identify plant diseases using deep learning. It uses CNN with MobileNetV2 (TensorFlow/Keras) for disease classification from leaf images.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656AB08-A49B-B75B-42A8-7DEFB231A222}"/>
              </a:ext>
            </a:extLst>
          </p:cNvPr>
          <p:cNvSpPr txBox="1"/>
          <p:nvPr/>
        </p:nvSpPr>
        <p:spPr>
          <a:xfrm>
            <a:off x="476238" y="4231848"/>
            <a:ext cx="6343491" cy="207095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85"/>
              </a:lnSpc>
              <a:spcBef>
                <a:spcPts val="1300"/>
              </a:spcBef>
              <a:spcAft>
                <a:spcPts val="0"/>
              </a:spcAft>
            </a:pPr>
            <a:r>
              <a:rPr sz="2000" b="0" dirty="0">
                <a:solidFill>
                  <a:srgbClr val="374151"/>
                </a:solidFill>
                <a:latin typeface="Poppins"/>
              </a:rPr>
              <a:t>Flask backend processes images, while React.js frontend provides interactive interface for uploading and displaying results with confidence scores. Trained on PlantVillage dataset, this user-friendly platform enables early detection, reduces crop loss, and supports better agricultural decision-making for farmers, students, and researchers.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1999"/>
          </a:xfrm>
          <a:prstGeom prst="rect">
            <a:avLst/>
          </a:prstGeom>
          <a:gradFill rotWithShape="1">
            <a:gsLst>
              <a:gs pos="0">
                <a:srgbClr val="2E7D32"/>
              </a:gs>
              <a:gs pos="100000">
                <a:srgbClr val="4CAF5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584" y="190499"/>
            <a:ext cx="2257368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</a:rPr>
              <a:t>Introduction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292398"/>
            <a:ext cx="5295767" cy="2343150"/>
          </a:xfrm>
          <a:prstGeom prst="roundRect">
            <a:avLst>
              <a:gd name="adj" fmla="val 13008"/>
            </a:avLst>
          </a:prstGeom>
          <a:solidFill>
            <a:srgbClr val="FFFFFF"/>
          </a:solidFill>
          <a:ln w="3302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14377" y="1671392"/>
            <a:ext cx="457188" cy="3850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23961" y="1673846"/>
            <a:ext cx="1611275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2E7D32"/>
                </a:solidFill>
                <a:latin typeface="Poppins"/>
              </a:rPr>
              <a:t>Background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377" y="2319247"/>
            <a:ext cx="4686182" cy="632353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74151"/>
                </a:solidFill>
                <a:latin typeface="Poppins"/>
              </a:rPr>
              <a:t>Agriculture is </a:t>
            </a:r>
            <a:r>
              <a:rPr b="1">
                <a:solidFill>
                  <a:srgbClr val="4CAF50"/>
                </a:solidFill>
                <a:latin typeface="Poppins"/>
              </a:rPr>
              <a:t>fundamental</a:t>
            </a:r>
            <a:r>
              <a:rPr sz="1400" b="0">
                <a:solidFill>
                  <a:srgbClr val="374151"/>
                </a:solidFill>
                <a:latin typeface="Poppins"/>
              </a:rPr>
              <a:t> to global food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77" y="3033892"/>
            <a:ext cx="2254079" cy="32701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780"/>
              </a:spcBef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Poppins"/>
              </a:rPr>
              <a:t>Employs millions worldwide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86342" y="1292398"/>
            <a:ext cx="5295767" cy="2343150"/>
          </a:xfrm>
          <a:prstGeom prst="roundRect">
            <a:avLst>
              <a:gd name="adj" fmla="val 13008"/>
            </a:avLst>
          </a:prstGeom>
          <a:solidFill>
            <a:srgbClr val="FFFFFF"/>
          </a:solidFill>
          <a:ln w="3302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1135" y="1680416"/>
            <a:ext cx="457188" cy="36696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00719" y="1673846"/>
            <a:ext cx="1369221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2E7D32"/>
                </a:solidFill>
                <a:latin typeface="Poppins"/>
              </a:rPr>
              <a:t>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1135" y="2319246"/>
            <a:ext cx="4686182" cy="632353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74151"/>
                </a:solidFill>
                <a:latin typeface="Poppins"/>
              </a:rPr>
              <a:t>Crop diseases cause </a:t>
            </a:r>
            <a:r>
              <a:rPr b="1">
                <a:solidFill>
                  <a:srgbClr val="F44336"/>
                </a:solidFill>
                <a:latin typeface="Poppins"/>
              </a:rPr>
              <a:t>20-40%</a:t>
            </a:r>
            <a:r>
              <a:rPr sz="1400" b="0">
                <a:solidFill>
                  <a:srgbClr val="374151"/>
                </a:solidFill>
                <a:latin typeface="Poppins"/>
              </a:rPr>
              <a:t> annual yield losses globally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1135" y="3033892"/>
            <a:ext cx="2177134" cy="32701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780"/>
              </a:spcBef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Poppins"/>
              </a:rPr>
              <a:t>Massive economic impact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584" y="4016547"/>
            <a:ext cx="5295767" cy="2333624"/>
          </a:xfrm>
          <a:prstGeom prst="roundRect">
            <a:avLst>
              <a:gd name="adj" fmla="val 13061"/>
            </a:avLst>
          </a:prstGeom>
          <a:solidFill>
            <a:srgbClr val="FFFFFF"/>
          </a:solidFill>
          <a:ln w="3302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4377" y="4395542"/>
            <a:ext cx="457188" cy="38501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523961" y="4397996"/>
            <a:ext cx="2121030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2E7D32"/>
                </a:solidFill>
                <a:latin typeface="Poppins"/>
              </a:rPr>
              <a:t>Current Problem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377" y="5020886"/>
            <a:ext cx="4374852" cy="36304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74151"/>
                </a:solidFill>
                <a:latin typeface="Poppins"/>
              </a:rPr>
              <a:t>Manual detection requires </a:t>
            </a:r>
            <a:r>
              <a:rPr sz="1400" b="1">
                <a:solidFill>
                  <a:srgbClr val="374151"/>
                </a:solidFill>
                <a:latin typeface="Poppins"/>
              </a:rPr>
              <a:t>expert agronomists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4377" y="5574165"/>
            <a:ext cx="190495" cy="12326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81070" y="5484604"/>
            <a:ext cx="567720" cy="30239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B5563"/>
                </a:solidFill>
                <a:latin typeface="Poppins"/>
              </a:rPr>
              <a:t>Costly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09704" y="5574165"/>
            <a:ext cx="190495" cy="12326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076398" y="5484604"/>
            <a:ext cx="457113" cy="30239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B5563"/>
                </a:solidFill>
                <a:latin typeface="Poppins"/>
              </a:rPr>
              <a:t>Slow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71685" y="5574165"/>
            <a:ext cx="190495" cy="1232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838379" y="5484604"/>
            <a:ext cx="998928" cy="30239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B5563"/>
                </a:solidFill>
                <a:latin typeface="Poppins"/>
              </a:rPr>
              <a:t>Not Scalable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86342" y="4016547"/>
            <a:ext cx="5295767" cy="2333624"/>
          </a:xfrm>
          <a:prstGeom prst="roundRect">
            <a:avLst>
              <a:gd name="adj" fmla="val 13061"/>
            </a:avLst>
          </a:prstGeom>
          <a:solidFill>
            <a:srgbClr val="FFFFFF"/>
          </a:solidFill>
          <a:ln w="3302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91135" y="4395542"/>
            <a:ext cx="457188" cy="38501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200719" y="4397996"/>
            <a:ext cx="2356671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2E7D32"/>
                </a:solidFill>
                <a:latin typeface="Poppins"/>
              </a:rPr>
              <a:t>Solution Approach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91135" y="5038633"/>
            <a:ext cx="4686182" cy="632353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74151"/>
                </a:solidFill>
                <a:latin typeface="Poppins"/>
              </a:rPr>
              <a:t>Leverage </a:t>
            </a:r>
            <a:r>
              <a:rPr sz="1400" b="1">
                <a:solidFill>
                  <a:srgbClr val="4CAF50"/>
                </a:solidFill>
                <a:latin typeface="Poppins"/>
              </a:rPr>
              <a:t>AI and deep learning</a:t>
            </a:r>
            <a:r>
              <a:rPr sz="1400" b="0">
                <a:solidFill>
                  <a:srgbClr val="374151"/>
                </a:solidFill>
                <a:latin typeface="Poppins"/>
              </a:rPr>
              <a:t> for real-time disease identification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91135" y="5748517"/>
            <a:ext cx="3097258" cy="32701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780"/>
              </a:spcBef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Poppins"/>
              </a:rPr>
              <a:t>Accessible &amp; affordable for all farmers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53" y="7255424"/>
            <a:ext cx="12191695" cy="0"/>
          </a:xfrm>
          <a:prstGeom prst="rect">
            <a:avLst/>
          </a:prstGeom>
          <a:gradFill rotWithShape="1">
            <a:gsLst>
              <a:gs pos="0">
                <a:srgbClr val="81C784"/>
              </a:gs>
              <a:gs pos="50000">
                <a:srgbClr val="4CAF50"/>
              </a:gs>
              <a:gs pos="100000">
                <a:srgbClr val="2E7D32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1999"/>
          </a:xfrm>
          <a:prstGeom prst="rect">
            <a:avLst/>
          </a:prstGeom>
          <a:gradFill rotWithShape="1">
            <a:gsLst>
              <a:gs pos="0">
                <a:srgbClr val="2E7D32"/>
              </a:gs>
              <a:gs pos="100000">
                <a:srgbClr val="4CAF5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584" y="190499"/>
            <a:ext cx="3047923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</a:rPr>
              <a:t>Existing Systems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1197142"/>
            <a:ext cx="457188" cy="3489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19169" y="1162506"/>
            <a:ext cx="3331297" cy="41819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616161"/>
                </a:solidFill>
                <a:latin typeface="Poppins"/>
              </a:rPr>
              <a:t>Traditional Methods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584" y="1828800"/>
            <a:ext cx="5333866" cy="125730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6974" y="2391410"/>
            <a:ext cx="12573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6278" y="2170728"/>
            <a:ext cx="285742" cy="19244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14417" y="2019934"/>
            <a:ext cx="2816733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600" b="1">
                <a:solidFill>
                  <a:srgbClr val="1F2937"/>
                </a:solidFill>
                <a:latin typeface="Poppins"/>
              </a:rPr>
              <a:t>Manual Visual Inspection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4417" y="2469498"/>
            <a:ext cx="1494255" cy="31880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600"/>
              <a:t>  </a:t>
            </a:r>
            <a:r>
              <a:rPr sz="1100" b="0">
                <a:solidFill>
                  <a:srgbClr val="4B5563"/>
                </a:solidFill>
                <a:latin typeface="Poppins"/>
              </a:rPr>
              <a:t> Time-consuming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4417" y="2554236"/>
            <a:ext cx="171445" cy="14932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952676" y="2469498"/>
            <a:ext cx="1563185" cy="31880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600"/>
              <a:t>  </a:t>
            </a:r>
            <a:r>
              <a:rPr sz="1100" b="0">
                <a:solidFill>
                  <a:srgbClr val="4B5563"/>
                </a:solidFill>
                <a:latin typeface="Poppins"/>
              </a:rPr>
              <a:t> Requires expertise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52676" y="2559766"/>
            <a:ext cx="171445" cy="13826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57608" y="2469498"/>
            <a:ext cx="1090298" cy="31880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600"/>
              <a:t>  </a:t>
            </a:r>
            <a:r>
              <a:rPr sz="1100" b="0">
                <a:solidFill>
                  <a:srgbClr val="4B5563"/>
                </a:solidFill>
                <a:latin typeface="Poppins"/>
              </a:rPr>
              <a:t> Error-prone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57608" y="2554236"/>
            <a:ext cx="171445" cy="14932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09584" y="3276599"/>
            <a:ext cx="5333866" cy="1066799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142225" y="3743958"/>
            <a:ext cx="10667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76278" y="3612696"/>
            <a:ext cx="285742" cy="20410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14417" y="3467733"/>
            <a:ext cx="3179012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600" b="1">
                <a:solidFill>
                  <a:srgbClr val="1F2937"/>
                </a:solidFill>
                <a:latin typeface="Poppins"/>
              </a:rPr>
              <a:t>Laboratory-Based Diagnosis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14417" y="3822047"/>
            <a:ext cx="965264" cy="31880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600"/>
              <a:t>  </a:t>
            </a:r>
            <a:r>
              <a:rPr sz="1100" b="0">
                <a:solidFill>
                  <a:srgbClr val="4B5563"/>
                </a:solidFill>
                <a:latin typeface="Poppins"/>
              </a:rPr>
              <a:t> Expensive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14417" y="3912316"/>
            <a:ext cx="171445" cy="13826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419289" y="3822047"/>
            <a:ext cx="1624099" cy="31880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600"/>
              <a:t>  </a:t>
            </a:r>
            <a:r>
              <a:rPr sz="1100" b="0">
                <a:solidFill>
                  <a:srgbClr val="4B5563"/>
                </a:solidFill>
                <a:latin typeface="Poppins"/>
              </a:rPr>
              <a:t> Slow (days-weeks)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19289" y="3906786"/>
            <a:ext cx="171445" cy="14932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238519" y="3822047"/>
            <a:ext cx="1183273" cy="31880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600"/>
              <a:t>  </a:t>
            </a:r>
            <a:r>
              <a:rPr sz="1100" b="0">
                <a:solidFill>
                  <a:srgbClr val="4B5563"/>
                </a:solidFill>
                <a:latin typeface="Poppins"/>
              </a:rPr>
              <a:t> Not practical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238519" y="3906786"/>
            <a:ext cx="171445" cy="149327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609584" y="4533900"/>
            <a:ext cx="5333866" cy="12192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66024" y="5077460"/>
            <a:ext cx="1219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76278" y="4861248"/>
            <a:ext cx="285742" cy="22160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314417" y="4725034"/>
            <a:ext cx="3281604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600" b="1" dirty="0">
                <a:solidFill>
                  <a:srgbClr val="1F2937"/>
                </a:solidFill>
                <a:latin typeface="Poppins"/>
              </a:rPr>
              <a:t>Rule-Based Decision Systems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14417" y="5162858"/>
            <a:ext cx="1649747" cy="30418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Poppins"/>
              </a:rPr>
              <a:t>Simple decision trees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47923" y="5105400"/>
            <a:ext cx="2038299" cy="419100"/>
          </a:xfrm>
          <a:prstGeom prst="roundRect">
            <a:avLst>
              <a:gd name="adj" fmla="val 36363"/>
            </a:avLst>
          </a:prstGeom>
          <a:solidFill>
            <a:srgbClr val="F4433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2" name="TextBox 31"/>
          <p:cNvSpPr txBox="1"/>
          <p:nvPr/>
        </p:nvSpPr>
        <p:spPr>
          <a:xfrm>
            <a:off x="3047923" y="5144134"/>
            <a:ext cx="2010422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4336"/>
                </a:solidFill>
                <a:latin typeface="Poppins"/>
              </a:rPr>
              <a:t>60-70% Accuracy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487628" y="1330704"/>
            <a:ext cx="457188" cy="366963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097213" y="1305092"/>
            <a:ext cx="3624647" cy="41819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E7D32"/>
                </a:solidFill>
                <a:latin typeface="Poppins"/>
              </a:rPr>
              <a:t>AI-Based Approaches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87628" y="1971386"/>
            <a:ext cx="5333866" cy="12192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6" name="Round Same Side Corner Rectangle 35"/>
          <p:cNvSpPr/>
          <p:nvPr/>
        </p:nvSpPr>
        <p:spPr>
          <a:xfrm rot="16200000">
            <a:off x="5944068" y="2514946"/>
            <a:ext cx="1219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754322" y="2298734"/>
            <a:ext cx="285742" cy="22160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192461" y="2162520"/>
            <a:ext cx="4160050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600" b="1">
                <a:solidFill>
                  <a:srgbClr val="2E7D32"/>
                </a:solidFill>
                <a:latin typeface="Poppins"/>
              </a:rPr>
              <a:t>Traditional ML (SVM, Random Forests)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92461" y="2600344"/>
            <a:ext cx="1794017" cy="30418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74151"/>
                </a:solidFill>
                <a:latin typeface="Poppins"/>
              </a:rPr>
              <a:t>Moderate performance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87888" y="2542886"/>
            <a:ext cx="1057248" cy="419100"/>
          </a:xfrm>
          <a:prstGeom prst="roundRect">
            <a:avLst>
              <a:gd name="adj" fmla="val 36363"/>
            </a:avLst>
          </a:prstGeom>
          <a:solidFill>
            <a:srgbClr val="4CAF5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1" name="TextBox 40"/>
          <p:cNvSpPr txBox="1"/>
          <p:nvPr/>
        </p:nvSpPr>
        <p:spPr>
          <a:xfrm>
            <a:off x="9087888" y="2581620"/>
            <a:ext cx="952440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E7D32"/>
                </a:solidFill>
                <a:latin typeface="Poppins"/>
              </a:rPr>
              <a:t>70-85%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87628" y="3381086"/>
            <a:ext cx="5333866" cy="12192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3" name="Round Same Side Corner Rectangle 42"/>
          <p:cNvSpPr/>
          <p:nvPr/>
        </p:nvSpPr>
        <p:spPr>
          <a:xfrm rot="16200000">
            <a:off x="5944068" y="3924646"/>
            <a:ext cx="1219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754322" y="3708434"/>
            <a:ext cx="285742" cy="22160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192461" y="3572220"/>
            <a:ext cx="4307526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600" b="1">
                <a:solidFill>
                  <a:srgbClr val="2E7D32"/>
                </a:solidFill>
                <a:latin typeface="Poppins"/>
              </a:rPr>
              <a:t>Deep Learning (ResNet, VGG, Inception)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92461" y="4010043"/>
            <a:ext cx="1168846" cy="30418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74151"/>
                </a:solidFill>
                <a:latin typeface="Poppins"/>
              </a:rPr>
              <a:t>High accuracy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411630" y="3952585"/>
            <a:ext cx="828654" cy="419100"/>
          </a:xfrm>
          <a:prstGeom prst="roundRect">
            <a:avLst>
              <a:gd name="adj" fmla="val 36363"/>
            </a:avLst>
          </a:prstGeom>
          <a:solidFill>
            <a:srgbClr val="4CAF5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8" name="TextBox 47"/>
          <p:cNvSpPr txBox="1"/>
          <p:nvPr/>
        </p:nvSpPr>
        <p:spPr>
          <a:xfrm>
            <a:off x="8411630" y="3991319"/>
            <a:ext cx="713593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E7D32"/>
                </a:solidFill>
                <a:latin typeface="Poppins"/>
              </a:rPr>
              <a:t>95%+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40304" y="4010043"/>
            <a:ext cx="1151213" cy="30418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Poppins"/>
              </a:rPr>
              <a:t>Heavy models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87628" y="4790786"/>
            <a:ext cx="5333866" cy="1104900"/>
          </a:xfrm>
          <a:prstGeom prst="roundRect">
            <a:avLst>
              <a:gd name="adj" fmla="val 2068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1" name="Round Same Side Corner Rectangle 50"/>
          <p:cNvSpPr/>
          <p:nvPr/>
        </p:nvSpPr>
        <p:spPr>
          <a:xfrm rot="16200000">
            <a:off x="6001218" y="5277196"/>
            <a:ext cx="1104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6754322" y="5138545"/>
            <a:ext cx="285742" cy="18078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7192461" y="4981920"/>
            <a:ext cx="2008820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600" b="1">
                <a:solidFill>
                  <a:srgbClr val="2E7D32"/>
                </a:solidFill>
                <a:latin typeface="Poppins"/>
              </a:rPr>
              <a:t>Transfer Learning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92461" y="5362594"/>
            <a:ext cx="2560253" cy="30418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74151"/>
                </a:solidFill>
                <a:latin typeface="Poppins"/>
              </a:rPr>
              <a:t>Best balance of speed &amp; accuracy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9926067" y="5417530"/>
            <a:ext cx="228594" cy="194309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0" y="7810499"/>
            <a:ext cx="12191695" cy="0"/>
          </a:xfrm>
          <a:prstGeom prst="rect">
            <a:avLst/>
          </a:prstGeom>
          <a:gradFill rotWithShape="1">
            <a:gsLst>
              <a:gs pos="0">
                <a:srgbClr val="81C784"/>
              </a:gs>
              <a:gs pos="50000">
                <a:srgbClr val="4CAF50"/>
              </a:gs>
              <a:gs pos="100000">
                <a:srgbClr val="2E7D32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1999"/>
          </a:xfrm>
          <a:prstGeom prst="rect">
            <a:avLst/>
          </a:prstGeom>
          <a:gradFill rotWithShape="1">
            <a:gsLst>
              <a:gs pos="0">
                <a:srgbClr val="2E7D32"/>
              </a:gs>
              <a:gs pos="100000">
                <a:srgbClr val="4CAF5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584" y="190499"/>
            <a:ext cx="3524161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</a:rPr>
              <a:t>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143000"/>
            <a:ext cx="3086022" cy="1828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3302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8179" y="1455354"/>
            <a:ext cx="342891" cy="2896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367" y="1429383"/>
            <a:ext cx="1495859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E7D32"/>
                </a:solidFill>
                <a:latin typeface="Poppins"/>
              </a:rPr>
              <a:t>Accessibility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179" y="1927287"/>
            <a:ext cx="2628834" cy="56502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74151"/>
                </a:solidFill>
                <a:latin typeface="Poppins"/>
              </a:rPr>
              <a:t>Most farmers lack access to expert pathologists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86102" y="1143000"/>
            <a:ext cx="3086022" cy="1828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3302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697" y="1479002"/>
            <a:ext cx="342891" cy="24239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1885" y="1429383"/>
            <a:ext cx="633443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E7D32"/>
                </a:solidFill>
                <a:latin typeface="Poppins"/>
              </a:rPr>
              <a:t>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697" y="1941502"/>
            <a:ext cx="2628834" cy="80329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74151"/>
                </a:solidFill>
                <a:latin typeface="Poppins"/>
              </a:rPr>
              <a:t>Expert consultation expensive, commercial solutions unaffordable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584" y="3162299"/>
            <a:ext cx="3086022" cy="1828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3302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8179" y="3474654"/>
            <a:ext cx="342891" cy="28969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95367" y="3448684"/>
            <a:ext cx="806567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E7D32"/>
                </a:solidFill>
                <a:latin typeface="Poppins"/>
              </a:rPr>
              <a:t>Speed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179" y="3964520"/>
            <a:ext cx="2628834" cy="79585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74151"/>
                </a:solidFill>
                <a:latin typeface="Poppins"/>
              </a:rPr>
              <a:t>Manual diagnosis takes time, delays crucial early intervention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86102" y="3162299"/>
            <a:ext cx="3086022" cy="1828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3302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14697" y="3474654"/>
            <a:ext cx="342891" cy="28969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71885" y="3448684"/>
            <a:ext cx="1164037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E7D32"/>
                </a:solidFill>
                <a:latin typeface="Poppins"/>
              </a:rPr>
              <a:t>Accuracy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697" y="3946586"/>
            <a:ext cx="2628834" cy="56502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374151"/>
                </a:solidFill>
                <a:latin typeface="Poppins"/>
              </a:rPr>
              <a:t>Similar disease symptoms lead to misidentification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584" y="5181599"/>
            <a:ext cx="6353016" cy="1295399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3302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8179" y="5547162"/>
            <a:ext cx="342891" cy="18327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95367" y="5467984"/>
            <a:ext cx="1273041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E7D32"/>
                </a:solidFill>
                <a:latin typeface="Poppins"/>
              </a:rPr>
              <a:t>Scalability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179" y="5947953"/>
            <a:ext cx="6126934" cy="33419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74151"/>
                </a:solidFill>
                <a:latin typeface="Poppins"/>
              </a:rPr>
              <a:t>Manual inspection cannot cover large agricultural areas efficiently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43591" y="1790700"/>
            <a:ext cx="4238519" cy="4038599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5390332" y="3743959"/>
            <a:ext cx="40385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86482" y="2140618"/>
            <a:ext cx="457188" cy="36696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257968" y="2131804"/>
            <a:ext cx="2749407" cy="38459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E7D32"/>
                </a:solidFill>
                <a:latin typeface="Poppins"/>
              </a:rPr>
              <a:t>Specific Challenges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86482" y="2891117"/>
            <a:ext cx="190495" cy="12326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991275" y="2857807"/>
            <a:ext cx="3286042" cy="30418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374151"/>
                </a:solidFill>
                <a:latin typeface="Poppins"/>
              </a:rPr>
              <a:t>No real-time disease detection at field level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86482" y="3500717"/>
            <a:ext cx="190495" cy="12326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991275" y="3363018"/>
            <a:ext cx="3286042" cy="51296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374151"/>
                </a:solidFill>
                <a:latin typeface="Poppins"/>
              </a:rPr>
              <a:t>Delayed diagnosis leads to rapid disease spread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86482" y="4110317"/>
            <a:ext cx="190495" cy="12326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991275" y="4077007"/>
            <a:ext cx="3286042" cy="30418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374151"/>
                </a:solidFill>
                <a:latin typeface="Poppins"/>
              </a:rPr>
              <a:t>Resource-limited regions have no expertise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86482" y="4719917"/>
            <a:ext cx="190495" cy="12326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991275" y="4584014"/>
            <a:ext cx="3286042" cy="50937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74151"/>
                </a:solidFill>
                <a:latin typeface="Poppins"/>
              </a:rPr>
              <a:t>Current systems require internet connectivity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86482" y="5329517"/>
            <a:ext cx="190495" cy="12326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991275" y="5181908"/>
            <a:ext cx="2797497" cy="30418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74151"/>
                </a:solidFill>
                <a:latin typeface="Poppins"/>
              </a:rPr>
              <a:t>Generic treatment recommendations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858000"/>
            <a:ext cx="12191695" cy="0"/>
          </a:xfrm>
          <a:prstGeom prst="rect">
            <a:avLst/>
          </a:prstGeom>
          <a:gradFill rotWithShape="1">
            <a:gsLst>
              <a:gs pos="0">
                <a:srgbClr val="81C784"/>
              </a:gs>
              <a:gs pos="50000">
                <a:srgbClr val="4CAF50"/>
              </a:gs>
              <a:gs pos="100000">
                <a:srgbClr val="2E7D32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1999"/>
          </a:xfrm>
          <a:prstGeom prst="rect">
            <a:avLst/>
          </a:prstGeom>
          <a:gradFill rotWithShape="1">
            <a:gsLst>
              <a:gs pos="0">
                <a:srgbClr val="2E7D32"/>
              </a:gs>
              <a:gs pos="100000">
                <a:srgbClr val="4CAF5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584" y="190499"/>
            <a:ext cx="3133646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</a:rPr>
              <a:t>Proposed System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1136015"/>
            <a:ext cx="342891" cy="2837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66773" y="1085609"/>
            <a:ext cx="2444836" cy="38459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E7D32"/>
                </a:solidFill>
                <a:latin typeface="Poppins"/>
              </a:rPr>
              <a:t>System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" y="1697005"/>
            <a:ext cx="529576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560"/>
              </a:spcAft>
            </a:pPr>
            <a:r>
              <a:rPr sz="1076" b="0">
                <a:solidFill>
                  <a:srgbClr val="374151"/>
                </a:solidFill>
                <a:latin typeface="Poppins"/>
              </a:rPr>
              <a:t>Complete AI-powered disease detection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584" y="2192305"/>
            <a:ext cx="5295767" cy="876299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 Same Side Corner Rectangle 7"/>
          <p:cNvSpPr/>
          <p:nvPr/>
        </p:nvSpPr>
        <p:spPr>
          <a:xfrm rot="16200000">
            <a:off x="237475" y="2564414"/>
            <a:ext cx="8762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79" y="2497433"/>
            <a:ext cx="342891" cy="26604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33466" y="2345339"/>
            <a:ext cx="2351862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Poppins"/>
              </a:rPr>
              <a:t>Deep Learning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3466" y="2611712"/>
            <a:ext cx="2893677" cy="30418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Poppins"/>
              </a:rPr>
              <a:t>MobileNetV2 for accurate classification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584" y="3221004"/>
            <a:ext cx="5295767" cy="876299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237475" y="3593113"/>
            <a:ext cx="8762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8179" y="3499529"/>
            <a:ext cx="342891" cy="31925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33466" y="3374039"/>
            <a:ext cx="1458989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Poppins"/>
              </a:rPr>
              <a:t>Backend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466" y="3640412"/>
            <a:ext cx="2723759" cy="30418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Poppins"/>
              </a:rPr>
              <a:t>Flask server for real-time predictions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584" y="4249704"/>
            <a:ext cx="5295767" cy="876299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237475" y="4621813"/>
            <a:ext cx="8762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8179" y="4566657"/>
            <a:ext cx="342891" cy="24239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33466" y="4402739"/>
            <a:ext cx="2375907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Poppins"/>
              </a:rPr>
              <a:t>Frontend Application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3466" y="4669112"/>
            <a:ext cx="2643609" cy="30418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Poppins"/>
              </a:rPr>
              <a:t>React web interface with intuitive UI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9584" y="5278404"/>
            <a:ext cx="5295767" cy="876299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237475" y="5650513"/>
            <a:ext cx="8762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8179" y="5571709"/>
            <a:ext cx="342891" cy="28969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333466" y="5431439"/>
            <a:ext cx="2579489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Poppins"/>
              </a:rPr>
              <a:t>Remediation Database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3466" y="5697812"/>
            <a:ext cx="2605137" cy="30418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Poppins"/>
              </a:rPr>
              <a:t>Treatment advice for each disease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29213" y="1162597"/>
            <a:ext cx="342891" cy="26604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886402" y="1143219"/>
            <a:ext cx="1152496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2E7D32"/>
                </a:solidFill>
                <a:latin typeface="Poppins"/>
              </a:rPr>
              <a:t>Data Flow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9144000"/>
            <a:ext cx="12191695" cy="0"/>
          </a:xfrm>
          <a:prstGeom prst="rect">
            <a:avLst/>
          </a:prstGeom>
          <a:gradFill rotWithShape="1">
            <a:gsLst>
              <a:gs pos="0">
                <a:srgbClr val="81C784"/>
              </a:gs>
              <a:gs pos="50000">
                <a:srgbClr val="4CAF50"/>
              </a:gs>
              <a:gs pos="100000">
                <a:srgbClr val="2E7D32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50059F8A-41AA-2556-AFEC-402E4A1393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57747" y="2422568"/>
            <a:ext cx="6037643" cy="33130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1999"/>
          </a:xfrm>
          <a:prstGeom prst="rect">
            <a:avLst/>
          </a:prstGeom>
          <a:gradFill rotWithShape="1">
            <a:gsLst>
              <a:gs pos="0">
                <a:srgbClr val="2E7D32"/>
              </a:gs>
              <a:gs pos="100000">
                <a:srgbClr val="4CAF5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584" y="190499"/>
            <a:ext cx="1904952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</a:rPr>
              <a:t>Objectives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1339740"/>
            <a:ext cx="342891" cy="2542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66773" y="1257755"/>
            <a:ext cx="3172600" cy="41819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E7D32"/>
                </a:solidFill>
                <a:latin typeface="Poppins"/>
              </a:rPr>
              <a:t>Primary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584" y="1885950"/>
            <a:ext cx="5295767" cy="723900"/>
          </a:xfrm>
          <a:prstGeom prst="roundRect">
            <a:avLst>
              <a:gd name="adj" fmla="val 3157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313674" y="2181860"/>
            <a:ext cx="723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79" y="2169172"/>
            <a:ext cx="285742" cy="1574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76318" y="2072321"/>
            <a:ext cx="3717621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E7D32"/>
                </a:solidFill>
                <a:latin typeface="Poppins"/>
              </a:rPr>
              <a:t>95%+ accuracy</a:t>
            </a:r>
            <a:r>
              <a:rPr sz="1400" b="0">
                <a:solidFill>
                  <a:srgbClr val="374151"/>
                </a:solidFill>
                <a:latin typeface="Poppins"/>
              </a:rPr>
              <a:t> on 16 disease classes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584" y="2762249"/>
            <a:ext cx="5295767" cy="723900"/>
          </a:xfrm>
          <a:prstGeom prst="roundRect">
            <a:avLst>
              <a:gd name="adj" fmla="val 3157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313674" y="3058159"/>
            <a:ext cx="723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8179" y="3001735"/>
            <a:ext cx="285742" cy="2449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76318" y="2948622"/>
            <a:ext cx="3478773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E7D32"/>
                </a:solidFill>
                <a:latin typeface="Poppins"/>
              </a:rPr>
              <a:t>&lt;120ms</a:t>
            </a:r>
            <a:r>
              <a:rPr sz="1400" b="0">
                <a:solidFill>
                  <a:srgbClr val="374151"/>
                </a:solidFill>
                <a:latin typeface="Poppins"/>
              </a:rPr>
              <a:t> real-time prediction system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584" y="3638550"/>
            <a:ext cx="5295767" cy="723900"/>
          </a:xfrm>
          <a:prstGeom prst="roundRect">
            <a:avLst>
              <a:gd name="adj" fmla="val 3157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313674" y="3934460"/>
            <a:ext cx="723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59" y="3829050"/>
            <a:ext cx="282381" cy="3429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76318" y="3824922"/>
            <a:ext cx="2837572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E7D32"/>
                </a:solidFill>
                <a:latin typeface="Poppins"/>
              </a:rPr>
              <a:t>User-friendly</a:t>
            </a:r>
            <a:r>
              <a:rPr sz="1400" b="0">
                <a:solidFill>
                  <a:srgbClr val="374151"/>
                </a:solidFill>
                <a:latin typeface="Poppins"/>
              </a:rPr>
              <a:t> web interface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584" y="4514850"/>
            <a:ext cx="5295767" cy="923924"/>
          </a:xfrm>
          <a:prstGeom prst="roundRect">
            <a:avLst>
              <a:gd name="adj" fmla="val 2474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213662" y="4910772"/>
            <a:ext cx="9239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8179" y="4849585"/>
            <a:ext cx="285742" cy="24492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276318" y="4694301"/>
            <a:ext cx="4438539" cy="56502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E7D32"/>
                </a:solidFill>
                <a:latin typeface="Poppins"/>
              </a:rPr>
              <a:t>Actionable advice</a:t>
            </a:r>
            <a:r>
              <a:rPr sz="1400" b="0">
                <a:solidFill>
                  <a:srgbClr val="374151"/>
                </a:solidFill>
                <a:latin typeface="Poppins"/>
              </a:rPr>
              <a:t> with treatment recommendations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9584" y="5581649"/>
            <a:ext cx="5295767" cy="723900"/>
          </a:xfrm>
          <a:prstGeom prst="roundRect">
            <a:avLst>
              <a:gd name="adj" fmla="val 3157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313674" y="5877559"/>
            <a:ext cx="723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38179" y="5826967"/>
            <a:ext cx="285742" cy="23326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76318" y="5777546"/>
            <a:ext cx="4039824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E7D32"/>
                </a:solidFill>
                <a:latin typeface="Poppins"/>
              </a:rPr>
              <a:t>Free &amp; accessible</a:t>
            </a:r>
            <a:r>
              <a:rPr sz="1400" b="0">
                <a:solidFill>
                  <a:srgbClr val="374151"/>
                </a:solidFill>
                <a:latin typeface="Poppins"/>
              </a:rPr>
              <a:t> solution for all farmers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86342" y="1322004"/>
            <a:ext cx="342891" cy="28969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743531" y="1257755"/>
            <a:ext cx="3607013" cy="41819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E7D32"/>
                </a:solidFill>
                <a:latin typeface="Poppins"/>
              </a:rPr>
              <a:t>Secondary Objectives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86342" y="1885950"/>
            <a:ext cx="5295767" cy="723900"/>
          </a:xfrm>
          <a:prstGeom prst="roundRect">
            <a:avLst>
              <a:gd name="adj" fmla="val 3157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5990432" y="2181860"/>
            <a:ext cx="723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14937" y="2125435"/>
            <a:ext cx="285742" cy="24492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953076" y="2080804"/>
            <a:ext cx="4596066" cy="33419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74151"/>
                </a:solidFill>
                <a:latin typeface="Poppins"/>
              </a:rPr>
              <a:t>Confidence thresholding to reduce false positives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86342" y="2762249"/>
            <a:ext cx="5295767" cy="914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5895182" y="3153409"/>
            <a:ext cx="914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514937" y="3085322"/>
            <a:ext cx="285742" cy="26825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953076" y="2936937"/>
            <a:ext cx="4438539" cy="56502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74151"/>
                </a:solidFill>
                <a:latin typeface="Poppins"/>
              </a:rPr>
              <a:t>Handle edge cases (non-leaves, low-quality photos)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86342" y="3829050"/>
            <a:ext cx="5295767" cy="723900"/>
          </a:xfrm>
          <a:prstGeom prst="roundRect">
            <a:avLst>
              <a:gd name="adj" fmla="val 3157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7" name="Round Same Side Corner Rectangle 36"/>
          <p:cNvSpPr/>
          <p:nvPr/>
        </p:nvSpPr>
        <p:spPr>
          <a:xfrm rot="16200000">
            <a:off x="5990432" y="4124960"/>
            <a:ext cx="723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514937" y="4080198"/>
            <a:ext cx="285742" cy="22160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953076" y="4023904"/>
            <a:ext cx="3812197" cy="33419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74151"/>
                </a:solidFill>
                <a:latin typeface="Poppins"/>
              </a:rPr>
              <a:t>Support multiple crops in single platform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86342" y="4705350"/>
            <a:ext cx="5295767" cy="723900"/>
          </a:xfrm>
          <a:prstGeom prst="roundRect">
            <a:avLst>
              <a:gd name="adj" fmla="val 3157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1" name="Round Same Side Corner Rectangle 40"/>
          <p:cNvSpPr/>
          <p:nvPr/>
        </p:nvSpPr>
        <p:spPr>
          <a:xfrm rot="16200000">
            <a:off x="5990432" y="5001260"/>
            <a:ext cx="723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514937" y="4965246"/>
            <a:ext cx="285742" cy="20410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953076" y="4900204"/>
            <a:ext cx="3284810" cy="33419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74151"/>
                </a:solidFill>
                <a:latin typeface="Poppins"/>
              </a:rPr>
              <a:t>Enable mobile and desktop access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86342" y="5581649"/>
            <a:ext cx="5295767" cy="723900"/>
          </a:xfrm>
          <a:prstGeom prst="roundRect">
            <a:avLst>
              <a:gd name="adj" fmla="val 3157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5" name="Round Same Side Corner Rectangle 44"/>
          <p:cNvSpPr/>
          <p:nvPr/>
        </p:nvSpPr>
        <p:spPr>
          <a:xfrm rot="16200000">
            <a:off x="5990432" y="5877559"/>
            <a:ext cx="723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514937" y="5815304"/>
            <a:ext cx="285742" cy="256591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953076" y="5777547"/>
            <a:ext cx="4624920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74151"/>
                </a:solidFill>
                <a:latin typeface="Poppins"/>
              </a:rPr>
              <a:t>Minimal model size (</a:t>
            </a:r>
            <a:r>
              <a:rPr sz="1600" b="1">
                <a:solidFill>
                  <a:srgbClr val="2E7D32"/>
                </a:solidFill>
                <a:latin typeface="Poppins"/>
              </a:rPr>
              <a:t>&lt;15MB</a:t>
            </a:r>
            <a:r>
              <a:rPr sz="1400" b="0">
                <a:solidFill>
                  <a:srgbClr val="374151"/>
                </a:solidFill>
                <a:latin typeface="Poppins"/>
              </a:rPr>
              <a:t>) for easy deployment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81C784"/>
              </a:gs>
              <a:gs pos="50000">
                <a:srgbClr val="4CAF50"/>
              </a:gs>
              <a:gs pos="100000">
                <a:srgbClr val="2E7D32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1999"/>
          </a:xfrm>
          <a:prstGeom prst="rect">
            <a:avLst/>
          </a:prstGeom>
          <a:gradFill rotWithShape="1">
            <a:gsLst>
              <a:gs pos="0">
                <a:srgbClr val="2E7D32"/>
              </a:gs>
              <a:gs pos="100000">
                <a:srgbClr val="4CAF5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584" y="190499"/>
            <a:ext cx="3381290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</a:rPr>
              <a:t>Technologies Used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066799"/>
            <a:ext cx="3505112" cy="3314700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 w="3302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8179" y="1387642"/>
            <a:ext cx="457188" cy="3489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09664" y="1372047"/>
            <a:ext cx="1919051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2E7D32"/>
                </a:solidFill>
                <a:latin typeface="Poppins"/>
              </a:rPr>
              <a:t>Backend Stack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79" y="2071407"/>
            <a:ext cx="190495" cy="1624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2971" y="1951043"/>
            <a:ext cx="816185" cy="32701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2937"/>
                </a:solidFill>
                <a:latin typeface="Poppins"/>
              </a:rPr>
              <a:t>Flask 2.x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2971" y="2207279"/>
            <a:ext cx="1614481" cy="27174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B5563"/>
                </a:solidFill>
                <a:latin typeface="Poppins"/>
              </a:rPr>
              <a:t>Python web framework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79" y="2642907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42971" y="2522544"/>
            <a:ext cx="1920654" cy="32701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2937"/>
                </a:solidFill>
                <a:latin typeface="Poppins"/>
              </a:rPr>
              <a:t>TensorFlow 2.x + Keras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2971" y="2778779"/>
            <a:ext cx="1771575" cy="27174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B5563"/>
                </a:solidFill>
                <a:latin typeface="Poppins"/>
              </a:rPr>
              <a:t>Deep learning framework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79" y="3214407"/>
            <a:ext cx="190495" cy="1624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2971" y="3094044"/>
            <a:ext cx="1074268" cy="32701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2937"/>
                </a:solidFill>
                <a:latin typeface="Poppins"/>
              </a:rPr>
              <a:t>Python 3.8+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2971" y="3350279"/>
            <a:ext cx="2047292" cy="27174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B5563"/>
                </a:solidFill>
                <a:latin typeface="Poppins"/>
              </a:rPr>
              <a:t>Core programming language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79" y="3785907"/>
            <a:ext cx="190495" cy="16248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42971" y="3665543"/>
            <a:ext cx="1632113" cy="32701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2937"/>
                </a:solidFill>
                <a:latin typeface="Poppins"/>
              </a:rPr>
              <a:t>PIL / NumPy / SciPy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2971" y="3921779"/>
            <a:ext cx="1776384" cy="27174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B5563"/>
                </a:solidFill>
                <a:latin typeface="Poppins"/>
              </a:rPr>
              <a:t>Image &amp; data processing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291" y="1066799"/>
            <a:ext cx="3505112" cy="3314700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 w="3302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885" y="1402681"/>
            <a:ext cx="457188" cy="31883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143371" y="1372047"/>
            <a:ext cx="1949508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2E7D32"/>
                </a:solidFill>
                <a:latin typeface="Poppins"/>
              </a:rPr>
              <a:t>Frontend Stack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885" y="2071407"/>
            <a:ext cx="190495" cy="16248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876678" y="1951043"/>
            <a:ext cx="920380" cy="32701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2937"/>
                </a:solidFill>
                <a:latin typeface="Poppins"/>
              </a:rPr>
              <a:t>React 19.x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6678" y="2207279"/>
            <a:ext cx="989310" cy="27174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B5563"/>
                </a:solidFill>
                <a:latin typeface="Poppins"/>
              </a:rPr>
              <a:t>UI framework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885" y="2642907"/>
            <a:ext cx="190495" cy="16248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876678" y="2522544"/>
            <a:ext cx="546881" cy="32701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2937"/>
                </a:solidFill>
                <a:latin typeface="Poppins"/>
              </a:rPr>
              <a:t>CSS3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76678" y="2778779"/>
            <a:ext cx="1726691" cy="27174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B5563"/>
                </a:solidFill>
                <a:latin typeface="Poppins"/>
              </a:rPr>
              <a:t>Flexbox, Grid, Animations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885" y="3214407"/>
            <a:ext cx="190495" cy="16248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876678" y="3094044"/>
            <a:ext cx="1123962" cy="32701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2937"/>
                </a:solidFill>
                <a:latin typeface="Poppins"/>
              </a:rPr>
              <a:t>React Hooks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76678" y="3350279"/>
            <a:ext cx="1200906" cy="27174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B5563"/>
                </a:solidFill>
                <a:latin typeface="Poppins"/>
              </a:rPr>
              <a:t>useState, useRef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885" y="3785907"/>
            <a:ext cx="190495" cy="16248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876678" y="3665543"/>
            <a:ext cx="873894" cy="32701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2937"/>
                </a:solidFill>
                <a:latin typeface="Poppins"/>
              </a:rPr>
              <a:t>Fetch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76678" y="3921779"/>
            <a:ext cx="832216" cy="27174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B5563"/>
                </a:solidFill>
                <a:latin typeface="Poppins"/>
              </a:rPr>
              <a:t>HTTP client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76998" y="1066799"/>
            <a:ext cx="3505112" cy="3314700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 w="3302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05592" y="1387642"/>
            <a:ext cx="457188" cy="34891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877078" y="1372047"/>
            <a:ext cx="2420791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2E7D32"/>
                </a:solidFill>
                <a:latin typeface="Poppins"/>
              </a:rPr>
              <a:t>Model Architecture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5592" y="2071407"/>
            <a:ext cx="190495" cy="16248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610384" y="1951043"/>
            <a:ext cx="1148007" cy="32701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2937"/>
                </a:solidFill>
                <a:latin typeface="Poppins"/>
              </a:rPr>
              <a:t>MobileNetV2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10384" y="2207279"/>
            <a:ext cx="1561581" cy="27174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B5563"/>
                </a:solidFill>
                <a:latin typeface="Poppins"/>
              </a:rPr>
              <a:t>ImageNet pre-trained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5592" y="2642907"/>
            <a:ext cx="190495" cy="162485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610384" y="2522544"/>
            <a:ext cx="1348382" cy="32701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2937"/>
                </a:solidFill>
                <a:latin typeface="Poppins"/>
              </a:rPr>
              <a:t>224×224×3 RGB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10384" y="2778779"/>
            <a:ext cx="1252202" cy="27174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B5563"/>
                </a:solidFill>
                <a:latin typeface="Poppins"/>
              </a:rPr>
              <a:t>Input dimensions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5592" y="3214407"/>
            <a:ext cx="190495" cy="162485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610384" y="3094044"/>
            <a:ext cx="1422121" cy="32701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2937"/>
                </a:solidFill>
                <a:latin typeface="Poppins"/>
              </a:rPr>
              <a:t>16-Class Output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10384" y="3350279"/>
            <a:ext cx="1550361" cy="27174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B5563"/>
                </a:solidFill>
                <a:latin typeface="Poppins"/>
              </a:rPr>
              <a:t>Softmax classification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5592" y="3785907"/>
            <a:ext cx="190495" cy="162485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610384" y="3665543"/>
            <a:ext cx="1442959" cy="32701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2937"/>
                </a:solidFill>
                <a:latin typeface="Poppins"/>
              </a:rPr>
              <a:t>Adam Optimizer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10384" y="3921779"/>
            <a:ext cx="1582421" cy="27174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B5563"/>
                </a:solidFill>
                <a:latin typeface="Poppins"/>
              </a:rPr>
              <a:t>Adaptive learning rate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09584" y="4610099"/>
            <a:ext cx="10972525" cy="12192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0" name="Round Same Side Corner Rectangle 49"/>
          <p:cNvSpPr/>
          <p:nvPr/>
        </p:nvSpPr>
        <p:spPr>
          <a:xfrm rot="16200000">
            <a:off x="66024" y="5153659"/>
            <a:ext cx="1219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6278" y="5098502"/>
            <a:ext cx="342891" cy="242394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333466" y="5029648"/>
            <a:ext cx="2366289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2E7D32"/>
                </a:solidFill>
                <a:latin typeface="Poppins"/>
              </a:rPr>
              <a:t>Dataset &amp; Training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52676" y="5136832"/>
            <a:ext cx="228594" cy="165734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3257468" y="4801805"/>
            <a:ext cx="614207" cy="30239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B5563"/>
                </a:solidFill>
                <a:latin typeface="Poppins"/>
              </a:rPr>
              <a:t>Source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57468" y="5056872"/>
            <a:ext cx="1285842" cy="55425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2937"/>
                </a:solidFill>
                <a:latin typeface="Poppins"/>
              </a:rPr>
              <a:t>PlantVillage Dataset</a:t>
            </a:r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848103" y="5122545"/>
            <a:ext cx="228594" cy="194309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5152896" y="4801805"/>
            <a:ext cx="796949" cy="30239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B5563"/>
                </a:solidFill>
                <a:latin typeface="Poppins"/>
              </a:rPr>
              <a:t>Data Split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52896" y="5056872"/>
            <a:ext cx="1885902" cy="55425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2937"/>
                </a:solidFill>
                <a:latin typeface="Poppins"/>
              </a:rPr>
              <a:t>70% Train / 20% Val / 10% Test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343591" y="5111115"/>
            <a:ext cx="228594" cy="21717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7648383" y="4801805"/>
            <a:ext cx="1123962" cy="30239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B5563"/>
                </a:solidFill>
                <a:latin typeface="Poppins"/>
              </a:rPr>
              <a:t>Augmentation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48383" y="5056872"/>
            <a:ext cx="1590635" cy="55425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2937"/>
                </a:solidFill>
                <a:latin typeface="Poppins"/>
              </a:rPr>
              <a:t>Rotation, Zoom, Shift, Flip</a:t>
            </a:r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543811" y="5126831"/>
            <a:ext cx="228594" cy="185737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9848603" y="4801805"/>
            <a:ext cx="1231363" cy="30239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B5563"/>
                </a:solidFill>
                <a:latin typeface="Poppins"/>
              </a:rPr>
              <a:t>Class Balancing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48603" y="5056872"/>
            <a:ext cx="1504912" cy="55425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2937"/>
                </a:solidFill>
                <a:latin typeface="Poppins"/>
              </a:rPr>
              <a:t>Weighted Loss Function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81C784"/>
              </a:gs>
              <a:gs pos="50000">
                <a:srgbClr val="4CAF50"/>
              </a:gs>
              <a:gs pos="100000">
                <a:srgbClr val="2E7D32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1999"/>
          </a:xfrm>
          <a:prstGeom prst="rect">
            <a:avLst/>
          </a:prstGeom>
          <a:gradFill rotWithShape="1">
            <a:gsLst>
              <a:gs pos="0">
                <a:srgbClr val="2E7D32"/>
              </a:gs>
              <a:gs pos="100000">
                <a:srgbClr val="4CAF5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584" y="190499"/>
            <a:ext cx="3676558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</a:rPr>
              <a:t>System Architecture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1124278"/>
            <a:ext cx="342891" cy="2660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66773" y="1072185"/>
            <a:ext cx="2004010" cy="37023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E7D32"/>
                </a:solidFill>
                <a:latin typeface="Poppins"/>
              </a:rPr>
              <a:t>Architecture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585" y="1527809"/>
            <a:ext cx="1636687" cy="217170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3302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080" y="1921055"/>
            <a:ext cx="285742" cy="20410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62021" y="1861397"/>
            <a:ext cx="1164037" cy="32342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2937"/>
                </a:solidFill>
                <a:latin typeface="Poppins"/>
              </a:rPr>
              <a:t>User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80" y="2365283"/>
            <a:ext cx="1104726" cy="2681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B5563"/>
                </a:solidFill>
                <a:latin typeface="Poppins"/>
              </a:rPr>
              <a:t>• React 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80" y="2643877"/>
            <a:ext cx="1162020" cy="434863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900" b="0">
                <a:solidFill>
                  <a:srgbClr val="4B5563"/>
                </a:solidFill>
                <a:latin typeface="Poppins"/>
              </a:rPr>
              <a:t>• Drag &amp; Drop Upload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80" y="3101077"/>
            <a:ext cx="1162020" cy="434863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900" b="0">
                <a:solidFill>
                  <a:srgbClr val="4B5563"/>
                </a:solidFill>
                <a:latin typeface="Poppins"/>
              </a:rPr>
              <a:t>• Real-time Preview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11589" y="2454240"/>
            <a:ext cx="457188" cy="31883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2609785" y="1432559"/>
            <a:ext cx="1696979" cy="23621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302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00280" y="1793731"/>
            <a:ext cx="285742" cy="26825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162221" y="1766146"/>
            <a:ext cx="1196097" cy="32342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2937"/>
                </a:solidFill>
                <a:latin typeface="Poppins"/>
              </a:rPr>
              <a:t>Flask 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00280" y="2281927"/>
            <a:ext cx="1142971" cy="434863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B5563"/>
                </a:solidFill>
                <a:latin typeface="Poppins"/>
              </a:rPr>
              <a:t>• Image Preprocessing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0280" y="2739127"/>
            <a:ext cx="1142971" cy="434863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900" b="0" dirty="0">
                <a:solidFill>
                  <a:srgbClr val="4B5563"/>
                </a:solidFill>
                <a:latin typeface="Poppins"/>
              </a:rPr>
              <a:t>• Model Inference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280" y="3196327"/>
            <a:ext cx="1142971" cy="434863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900" b="0">
                <a:solidFill>
                  <a:srgbClr val="4B5563"/>
                </a:solidFill>
                <a:latin typeface="Poppins"/>
              </a:rPr>
              <a:t>• Confidence Check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0558" y="2454240"/>
            <a:ext cx="457188" cy="318836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4729352" y="1827651"/>
            <a:ext cx="1857328" cy="16002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3302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19847" y="2116899"/>
            <a:ext cx="285742" cy="22160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281788" y="2065990"/>
            <a:ext cx="1066254" cy="32342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2937"/>
                </a:solidFill>
                <a:latin typeface="Poppins"/>
              </a:rPr>
              <a:t>MobileNetV2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19847" y="2474626"/>
            <a:ext cx="1151213" cy="2681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B5563"/>
                </a:solidFill>
                <a:latin typeface="Poppins"/>
              </a:rPr>
              <a:t>• 16-Class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19847" y="2741326"/>
            <a:ext cx="1010148" cy="2681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900" b="0">
                <a:solidFill>
                  <a:srgbClr val="4B5563"/>
                </a:solidFill>
                <a:latin typeface="Poppins"/>
              </a:rPr>
              <a:t>• 13.8 MB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19847" y="3008025"/>
            <a:ext cx="1228157" cy="2681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900" b="0">
                <a:solidFill>
                  <a:srgbClr val="4B5563"/>
                </a:solidFill>
                <a:latin typeface="Poppins"/>
              </a:rPr>
              <a:t>• Transfer Learning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8633" y="3855717"/>
            <a:ext cx="2666933" cy="1866899"/>
          </a:xfrm>
          <a:prstGeom prst="roundRect">
            <a:avLst>
              <a:gd name="adj" fmla="val 122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-238776" y="4723126"/>
            <a:ext cx="18668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57228" y="4110034"/>
            <a:ext cx="228594" cy="17716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162020" y="4036905"/>
            <a:ext cx="1220142" cy="32342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2937"/>
                </a:solidFill>
                <a:latin typeface="Poppins"/>
              </a:rPr>
              <a:t>Frontend Input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7228" y="4429319"/>
            <a:ext cx="1824474" cy="30059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74151"/>
                </a:solidFill>
                <a:latin typeface="Poppins"/>
              </a:rPr>
              <a:t>• JPEG, PNG, WebP formats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7228" y="4734120"/>
            <a:ext cx="1781193" cy="30059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1000" b="0">
                <a:solidFill>
                  <a:srgbClr val="374151"/>
                </a:solidFill>
                <a:latin typeface="Poppins"/>
              </a:rPr>
              <a:t>• File validation &amp; preview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7228" y="5153219"/>
            <a:ext cx="2247843" cy="30059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1000" b="0">
                <a:solidFill>
                  <a:srgbClr val="374151"/>
                </a:solidFill>
                <a:latin typeface="Poppins"/>
              </a:rPr>
              <a:t>• Results &amp; recommendations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47963" y="3855717"/>
            <a:ext cx="2666933" cy="1866899"/>
          </a:xfrm>
          <a:prstGeom prst="roundRect">
            <a:avLst>
              <a:gd name="adj" fmla="val 122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4" name="Round Same Side Corner Rectangle 33"/>
          <p:cNvSpPr/>
          <p:nvPr/>
        </p:nvSpPr>
        <p:spPr>
          <a:xfrm rot="16200000">
            <a:off x="2580554" y="4723126"/>
            <a:ext cx="18668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76557" y="4101462"/>
            <a:ext cx="228594" cy="194309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981349" y="4036905"/>
            <a:ext cx="1616083" cy="32342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2937"/>
                </a:solidFill>
                <a:latin typeface="Poppins"/>
              </a:rPr>
              <a:t>Backend Processing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76557" y="4429319"/>
            <a:ext cx="1362809" cy="30059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74151"/>
                </a:solidFill>
                <a:latin typeface="Poppins"/>
              </a:rPr>
              <a:t>• Resize to 224×224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76557" y="4734120"/>
            <a:ext cx="1652953" cy="30059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1000" b="0">
                <a:solidFill>
                  <a:srgbClr val="374151"/>
                </a:solidFill>
                <a:latin typeface="Poppins"/>
              </a:rPr>
              <a:t>• Normalize pixel values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76557" y="5038920"/>
            <a:ext cx="1652953" cy="30059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1000" b="0">
                <a:solidFill>
                  <a:srgbClr val="374151"/>
                </a:solidFill>
                <a:latin typeface="Poppins"/>
              </a:rPr>
              <a:t>• JSON response output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8633" y="5951216"/>
            <a:ext cx="5486262" cy="800100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F0FDF4"/>
              </a:gs>
              <a:gs pos="100000">
                <a:srgbClr val="DCFCE7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1" name="Round Same Side Corner Rectangle 40"/>
          <p:cNvSpPr/>
          <p:nvPr/>
        </p:nvSpPr>
        <p:spPr>
          <a:xfrm rot="16200000">
            <a:off x="294623" y="6285226"/>
            <a:ext cx="800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19128" y="6222971"/>
            <a:ext cx="285742" cy="256591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219168" y="6067620"/>
            <a:ext cx="1237775" cy="30059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B5563"/>
                </a:solidFill>
                <a:latin typeface="Poppins"/>
              </a:rPr>
              <a:t>Supported Crops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9168" y="6303856"/>
            <a:ext cx="1970348" cy="32342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2937"/>
                </a:solidFill>
                <a:latin typeface="Poppins"/>
              </a:rPr>
              <a:t>Tomato • Potato • Pepper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2208" y="6067620"/>
            <a:ext cx="1300292" cy="30059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B5563"/>
                </a:solidFill>
                <a:latin typeface="Poppins"/>
              </a:rPr>
              <a:t>Detection Classes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39015" y="6303856"/>
            <a:ext cx="1723485" cy="32342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E7D32"/>
                </a:solidFill>
                <a:latin typeface="Poppins"/>
              </a:rPr>
              <a:t>16 Disease Categories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00986" y="1038224"/>
            <a:ext cx="5181470" cy="5238749"/>
          </a:xfrm>
          <a:prstGeom prst="roundRect">
            <a:avLst/>
          </a:prstGeom>
          <a:blipFill>
            <a:blip r:embed="rId10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0" y="7543800"/>
            <a:ext cx="12191695" cy="0"/>
          </a:xfrm>
          <a:prstGeom prst="rect">
            <a:avLst/>
          </a:prstGeom>
          <a:gradFill rotWithShape="1">
            <a:gsLst>
              <a:gs pos="0">
                <a:srgbClr val="81C784"/>
              </a:gs>
              <a:gs pos="50000">
                <a:srgbClr val="4CAF50"/>
              </a:gs>
              <a:gs pos="100000">
                <a:srgbClr val="2E7D32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1999"/>
          </a:xfrm>
          <a:prstGeom prst="rect">
            <a:avLst/>
          </a:prstGeom>
          <a:gradFill rotWithShape="1">
            <a:gsLst>
              <a:gs pos="0">
                <a:srgbClr val="2E7D32"/>
              </a:gs>
              <a:gs pos="100000">
                <a:srgbClr val="4CAF5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584" y="190499"/>
            <a:ext cx="2390715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</a:rPr>
              <a:t>Methodology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066799"/>
            <a:ext cx="3505112" cy="2085975"/>
          </a:xfrm>
          <a:prstGeom prst="roundRect">
            <a:avLst>
              <a:gd name="adj" fmla="val 10958"/>
            </a:avLst>
          </a:prstGeom>
          <a:solidFill>
            <a:srgbClr val="FFFFFF"/>
          </a:solidFill>
          <a:ln w="3302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" name="Rounded Rectangle 4"/>
          <p:cNvSpPr/>
          <p:nvPr/>
        </p:nvSpPr>
        <p:spPr>
          <a:xfrm>
            <a:off x="800079" y="137160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TextBox 5"/>
          <p:cNvSpPr txBox="1"/>
          <p:nvPr/>
        </p:nvSpPr>
        <p:spPr>
          <a:xfrm>
            <a:off x="981050" y="1407904"/>
            <a:ext cx="243913" cy="38459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565" y="1257933"/>
            <a:ext cx="1965538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Poppins"/>
              </a:rPr>
              <a:t>Data Preparation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71565" y="1631632"/>
            <a:ext cx="228594" cy="16573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0079" y="2010082"/>
            <a:ext cx="2640403" cy="30418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74151"/>
                </a:solidFill>
                <a:latin typeface="Poppins"/>
              </a:rPr>
              <a:t>• PlantVillage dataset (54k images)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79" y="2314883"/>
            <a:ext cx="2140266" cy="30418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1100" b="0">
                <a:solidFill>
                  <a:srgbClr val="374151"/>
                </a:solidFill>
                <a:latin typeface="Poppins"/>
              </a:rPr>
              <a:t>• 70/20/10 train/val/test split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79" y="2619683"/>
            <a:ext cx="2969018" cy="30418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1100" b="0">
                <a:solidFill>
                  <a:srgbClr val="374151"/>
                </a:solidFill>
                <a:latin typeface="Poppins"/>
              </a:rPr>
              <a:t>• Augmentation: rotation, zoom, shift, flip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291" y="1066799"/>
            <a:ext cx="3505112" cy="2085975"/>
          </a:xfrm>
          <a:prstGeom prst="roundRect">
            <a:avLst>
              <a:gd name="adj" fmla="val 10958"/>
            </a:avLst>
          </a:prstGeom>
          <a:solidFill>
            <a:srgbClr val="FFFFFF"/>
          </a:solidFill>
          <a:ln w="3302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Rounded Rectangle 12"/>
          <p:cNvSpPr/>
          <p:nvPr/>
        </p:nvSpPr>
        <p:spPr>
          <a:xfrm>
            <a:off x="4533786" y="137160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TextBox 13"/>
          <p:cNvSpPr txBox="1"/>
          <p:nvPr/>
        </p:nvSpPr>
        <p:spPr>
          <a:xfrm>
            <a:off x="4695707" y="1407904"/>
            <a:ext cx="293607" cy="38459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5272" y="1257933"/>
            <a:ext cx="2266903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Poppins"/>
              </a:rPr>
              <a:t>Model Development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5272" y="1625917"/>
            <a:ext cx="228594" cy="1771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33786" y="2010082"/>
            <a:ext cx="2326214" cy="30418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74151"/>
                </a:solidFill>
                <a:latin typeface="Poppins"/>
              </a:rPr>
              <a:t>• MobileNetV2 transfer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3786" y="2315589"/>
            <a:ext cx="2792688" cy="3027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1100" b="0">
                <a:solidFill>
                  <a:srgbClr val="374151"/>
                </a:solidFill>
                <a:latin typeface="Poppins"/>
              </a:rPr>
              <a:t>• Custom dense layers (256→128→16)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3786" y="2619683"/>
            <a:ext cx="2545825" cy="30418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1100" b="0">
                <a:solidFill>
                  <a:srgbClr val="374151"/>
                </a:solidFill>
                <a:latin typeface="Poppins"/>
              </a:rPr>
              <a:t>• Adam optimizer, categorical loss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76998" y="1066799"/>
            <a:ext cx="3505112" cy="2085975"/>
          </a:xfrm>
          <a:prstGeom prst="roundRect">
            <a:avLst>
              <a:gd name="adj" fmla="val 10958"/>
            </a:avLst>
          </a:prstGeom>
          <a:solidFill>
            <a:srgbClr val="FFFFFF"/>
          </a:solidFill>
          <a:ln w="3302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Rounded Rectangle 20"/>
          <p:cNvSpPr/>
          <p:nvPr/>
        </p:nvSpPr>
        <p:spPr>
          <a:xfrm>
            <a:off x="8267493" y="137160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TextBox 21"/>
          <p:cNvSpPr txBox="1"/>
          <p:nvPr/>
        </p:nvSpPr>
        <p:spPr>
          <a:xfrm>
            <a:off x="8429414" y="1407904"/>
            <a:ext cx="303225" cy="38459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8979" y="1257933"/>
            <a:ext cx="1968744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Poppins"/>
              </a:rPr>
              <a:t>Model Evaluation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38979" y="1625917"/>
            <a:ext cx="228594" cy="17716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267493" y="2020156"/>
            <a:ext cx="2279727" cy="32213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74151"/>
                </a:solidFill>
                <a:latin typeface="Poppins"/>
              </a:rPr>
              <a:t>• </a:t>
            </a:r>
            <a:r>
              <a:rPr sz="1600" b="1">
                <a:solidFill>
                  <a:srgbClr val="2E7D32"/>
                </a:solidFill>
                <a:latin typeface="Poppins"/>
              </a:rPr>
              <a:t>95%+</a:t>
            </a:r>
            <a:r>
              <a:rPr sz="1100" b="0">
                <a:solidFill>
                  <a:srgbClr val="374151"/>
                </a:solidFill>
                <a:latin typeface="Poppins"/>
              </a:rPr>
              <a:t> accuracy on test 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7493" y="2363056"/>
            <a:ext cx="2072940" cy="32213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1100" b="0">
                <a:solidFill>
                  <a:srgbClr val="374151"/>
                </a:solidFill>
                <a:latin typeface="Poppins"/>
              </a:rPr>
              <a:t>• </a:t>
            </a:r>
            <a:r>
              <a:rPr sz="1600" b="1">
                <a:solidFill>
                  <a:srgbClr val="2E7D32"/>
                </a:solidFill>
                <a:latin typeface="Poppins"/>
              </a:rPr>
              <a:t>&lt;120ms</a:t>
            </a:r>
            <a:r>
              <a:rPr sz="1100" b="0">
                <a:solidFill>
                  <a:srgbClr val="374151"/>
                </a:solidFill>
                <a:latin typeface="Poppins"/>
              </a:rPr>
              <a:t> inference 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7493" y="2695882"/>
            <a:ext cx="2058512" cy="30418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1100" b="0">
                <a:solidFill>
                  <a:srgbClr val="374151"/>
                </a:solidFill>
                <a:latin typeface="Poppins"/>
              </a:rPr>
              <a:t>• 60% confidence threshold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9584" y="3381375"/>
            <a:ext cx="3505112" cy="2009774"/>
          </a:xfrm>
          <a:prstGeom prst="roundRect">
            <a:avLst>
              <a:gd name="adj" fmla="val 11374"/>
            </a:avLst>
          </a:prstGeom>
          <a:solidFill>
            <a:srgbClr val="FFFFFF"/>
          </a:solidFill>
          <a:ln w="3302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9" name="Rounded Rectangle 28"/>
          <p:cNvSpPr/>
          <p:nvPr/>
        </p:nvSpPr>
        <p:spPr>
          <a:xfrm>
            <a:off x="800079" y="3676649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0" name="TextBox 29"/>
          <p:cNvSpPr txBox="1"/>
          <p:nvPr/>
        </p:nvSpPr>
        <p:spPr>
          <a:xfrm>
            <a:off x="952476" y="3712953"/>
            <a:ext cx="320857" cy="38459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565" y="3572509"/>
            <a:ext cx="2547429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Poppins"/>
              </a:rPr>
              <a:t>Backend Development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71565" y="3940492"/>
            <a:ext cx="228594" cy="17716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00079" y="4324658"/>
            <a:ext cx="2441630" cy="30418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74151"/>
                </a:solidFill>
                <a:latin typeface="Poppins"/>
              </a:rPr>
              <a:t>• Flask API with /predict endpoint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079" y="4629457"/>
            <a:ext cx="1896609" cy="30418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1100" b="0">
                <a:solidFill>
                  <a:srgbClr val="374151"/>
                </a:solidFill>
                <a:latin typeface="Poppins"/>
              </a:rPr>
              <a:t>• Image upload handling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79" y="4934258"/>
            <a:ext cx="2674065" cy="30418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1100" b="0">
                <a:solidFill>
                  <a:srgbClr val="374151"/>
                </a:solidFill>
                <a:latin typeface="Poppins"/>
              </a:rPr>
              <a:t>• Remediation database integration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43291" y="3381375"/>
            <a:ext cx="3505112" cy="2009774"/>
          </a:xfrm>
          <a:prstGeom prst="roundRect">
            <a:avLst>
              <a:gd name="adj" fmla="val 11374"/>
            </a:avLst>
          </a:prstGeom>
          <a:solidFill>
            <a:srgbClr val="FFFFFF"/>
          </a:solidFill>
          <a:ln w="3302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7" name="Rounded Rectangle 36"/>
          <p:cNvSpPr/>
          <p:nvPr/>
        </p:nvSpPr>
        <p:spPr>
          <a:xfrm>
            <a:off x="4533786" y="3676649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8" name="TextBox 37"/>
          <p:cNvSpPr txBox="1"/>
          <p:nvPr/>
        </p:nvSpPr>
        <p:spPr>
          <a:xfrm>
            <a:off x="4686182" y="3712953"/>
            <a:ext cx="314445" cy="38459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05272" y="3572509"/>
            <a:ext cx="2576283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Poppins"/>
              </a:rPr>
              <a:t>Frontend Development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05272" y="3946207"/>
            <a:ext cx="228594" cy="16573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4533786" y="4324658"/>
            <a:ext cx="2289345" cy="30418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74151"/>
                </a:solidFill>
                <a:latin typeface="Poppins"/>
              </a:rPr>
              <a:t>• React component with hooks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33786" y="4629457"/>
            <a:ext cx="2125838" cy="30418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1100" b="0">
                <a:solidFill>
                  <a:srgbClr val="374151"/>
                </a:solidFill>
                <a:latin typeface="Poppins"/>
              </a:rPr>
              <a:t>• Drag-and-drop file upload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33786" y="4934258"/>
            <a:ext cx="2029658" cy="30418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1100" b="0">
                <a:solidFill>
                  <a:srgbClr val="374151"/>
                </a:solidFill>
                <a:latin typeface="Poppins"/>
              </a:rPr>
              <a:t>• Real-time image preview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76998" y="3381375"/>
            <a:ext cx="3505112" cy="2009774"/>
          </a:xfrm>
          <a:prstGeom prst="roundRect">
            <a:avLst>
              <a:gd name="adj" fmla="val 11374"/>
            </a:avLst>
          </a:prstGeom>
          <a:solidFill>
            <a:srgbClr val="FFFFFF"/>
          </a:solidFill>
          <a:ln w="3302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5" name="Rounded Rectangle 44"/>
          <p:cNvSpPr/>
          <p:nvPr/>
        </p:nvSpPr>
        <p:spPr>
          <a:xfrm>
            <a:off x="8267493" y="3676649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6" name="TextBox 45"/>
          <p:cNvSpPr txBox="1"/>
          <p:nvPr/>
        </p:nvSpPr>
        <p:spPr>
          <a:xfrm>
            <a:off x="8419889" y="3712953"/>
            <a:ext cx="311239" cy="38459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Poppins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38979" y="3572509"/>
            <a:ext cx="2371098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Poppins"/>
              </a:rPr>
              <a:t>Integration &amp; Testing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838979" y="3940492"/>
            <a:ext cx="228594" cy="17716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8267493" y="4324658"/>
            <a:ext cx="1587229" cy="30418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74151"/>
                </a:solidFill>
                <a:latin typeface="Poppins"/>
              </a:rPr>
              <a:t>• End-to-end testing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67493" y="4629457"/>
            <a:ext cx="1630511" cy="30418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1100" b="0">
                <a:solidFill>
                  <a:srgbClr val="374151"/>
                </a:solidFill>
                <a:latin typeface="Poppins"/>
              </a:rPr>
              <a:t>• Edge case handling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67493" y="4934258"/>
            <a:ext cx="2071336" cy="30418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1100" b="0">
                <a:solidFill>
                  <a:srgbClr val="374151"/>
                </a:solidFill>
                <a:latin typeface="Poppins"/>
              </a:rPr>
              <a:t>• Performance optimization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09584" y="5619750"/>
            <a:ext cx="10972525" cy="876299"/>
          </a:xfrm>
          <a:prstGeom prst="roundRect">
            <a:avLst>
              <a:gd name="adj" fmla="val 26086"/>
            </a:avLst>
          </a:prstGeom>
          <a:gradFill rotWithShape="1">
            <a:gsLst>
              <a:gs pos="0">
                <a:srgbClr val="F0FDF4"/>
              </a:gs>
              <a:gs pos="100000">
                <a:srgbClr val="DCFCE7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3" name="Round Same Side Corner Rectangle 52"/>
          <p:cNvSpPr/>
          <p:nvPr/>
        </p:nvSpPr>
        <p:spPr>
          <a:xfrm rot="16200000">
            <a:off x="237475" y="5991859"/>
            <a:ext cx="8762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57228" y="5935435"/>
            <a:ext cx="285742" cy="244928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257268" y="5772457"/>
            <a:ext cx="1721882" cy="30418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Poppins"/>
              </a:rPr>
              <a:t>Training Configuration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57268" y="6005103"/>
            <a:ext cx="4035015" cy="33419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2937"/>
                </a:solidFill>
                <a:latin typeface="Poppins"/>
              </a:rPr>
              <a:t>Batch Size: 32 • Epochs: 20 • Early Stopping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10024" y="5829300"/>
            <a:ext cx="9524" cy="457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067173" y="5957304"/>
            <a:ext cx="285742" cy="201191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5467213" y="5772457"/>
            <a:ext cx="1608069" cy="30418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Poppins"/>
              </a:rPr>
              <a:t>Performance Metrics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67213" y="6005103"/>
            <a:ext cx="3305649" cy="33419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2937"/>
                </a:solidFill>
                <a:latin typeface="Poppins"/>
              </a:rPr>
              <a:t>Accuracy: 95%+ • Latency: &lt;150ms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524661" y="5829300"/>
            <a:ext cx="9524" cy="457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581810" y="5935435"/>
            <a:ext cx="285742" cy="244928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8981850" y="5772457"/>
            <a:ext cx="1423723" cy="30418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Poppins"/>
              </a:rPr>
              <a:t>Quality Assurance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81850" y="6005103"/>
            <a:ext cx="2643609" cy="33419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2937"/>
                </a:solidFill>
                <a:latin typeface="Poppins"/>
              </a:rPr>
              <a:t>Confidence Threshold: 60%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81C784"/>
              </a:gs>
              <a:gs pos="50000">
                <a:srgbClr val="4CAF50"/>
              </a:gs>
              <a:gs pos="100000">
                <a:srgbClr val="2E7D32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1999"/>
          </a:xfrm>
          <a:prstGeom prst="rect">
            <a:avLst/>
          </a:prstGeom>
          <a:gradFill rotWithShape="1">
            <a:gsLst>
              <a:gs pos="0">
                <a:srgbClr val="2E7D32"/>
              </a:gs>
              <a:gs pos="100000">
                <a:srgbClr val="4CAF5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584" y="190499"/>
            <a:ext cx="1562060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</a:rPr>
              <a:t>Features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1115785"/>
            <a:ext cx="285742" cy="244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1525" y="1048198"/>
            <a:ext cx="1808444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2E7D32"/>
                </a:solidFill>
                <a:latin typeface="Poppins"/>
              </a:rPr>
              <a:t>Core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584" y="1600200"/>
            <a:ext cx="3047923" cy="80010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275574" y="1934210"/>
            <a:ext cx="800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079" y="1839685"/>
            <a:ext cx="285742" cy="2449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00119" y="1711672"/>
            <a:ext cx="2589107" cy="34855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b="1">
                <a:solidFill>
                  <a:srgbClr val="1F2937"/>
                </a:solidFill>
                <a:latin typeface="Poppins"/>
              </a:rPr>
              <a:t>Real-Time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19" y="2013190"/>
            <a:ext cx="2069734" cy="2789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Poppins"/>
              </a:rPr>
              <a:t>Get prediction in &lt;200ms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09904" y="1600200"/>
            <a:ext cx="3047923" cy="80010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475894" y="1934210"/>
            <a:ext cx="800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0399" y="1854264"/>
            <a:ext cx="285742" cy="21577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00439" y="1711672"/>
            <a:ext cx="2459263" cy="34855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b="1">
                <a:solidFill>
                  <a:srgbClr val="1F2937"/>
                </a:solidFill>
                <a:latin typeface="Poppins"/>
              </a:rPr>
              <a:t>Multi-Crop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0439" y="2013190"/>
            <a:ext cx="1939890" cy="2789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Poppins"/>
              </a:rPr>
              <a:t>Tomato, Potato, Pepper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584" y="2552700"/>
            <a:ext cx="3047923" cy="80010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275574" y="2886710"/>
            <a:ext cx="800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0079" y="2786354"/>
            <a:ext cx="285742" cy="25659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00119" y="2664172"/>
            <a:ext cx="2473691" cy="34855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b="1">
                <a:solidFill>
                  <a:srgbClr val="1F2937"/>
                </a:solidFill>
                <a:latin typeface="Poppins"/>
              </a:rPr>
              <a:t>Confidence Scoring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0119" y="2965690"/>
            <a:ext cx="2435218" cy="2789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Poppins"/>
              </a:rPr>
              <a:t>Color-coded visual indicators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09904" y="2552700"/>
            <a:ext cx="3047923" cy="80010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3475894" y="2886710"/>
            <a:ext cx="800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00399" y="2792185"/>
            <a:ext cx="285742" cy="24492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400439" y="2664172"/>
            <a:ext cx="2281330" cy="34855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b="1">
                <a:solidFill>
                  <a:srgbClr val="1F2937"/>
                </a:solidFill>
                <a:latin typeface="Poppins"/>
              </a:rPr>
              <a:t>Treatment Advice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0439" y="2965690"/>
            <a:ext cx="2058512" cy="2789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Poppins"/>
              </a:rPr>
              <a:t>14 diseases documented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9584" y="3505199"/>
            <a:ext cx="3047923" cy="80010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275574" y="3839209"/>
            <a:ext cx="800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01760" y="3695699"/>
            <a:ext cx="282381" cy="3429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200119" y="3616673"/>
            <a:ext cx="2058512" cy="34855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b="1">
                <a:solidFill>
                  <a:srgbClr val="1F2937"/>
                </a:solidFill>
                <a:latin typeface="Poppins"/>
              </a:rPr>
              <a:t>User-Friendly UI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00119" y="3918189"/>
            <a:ext cx="1951112" cy="2789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Poppins"/>
              </a:rPr>
              <a:t>Drag-and-drop upload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09904" y="3505199"/>
            <a:ext cx="3047923" cy="80010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3475894" y="3839209"/>
            <a:ext cx="800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000399" y="3744685"/>
            <a:ext cx="285742" cy="24492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400439" y="3616673"/>
            <a:ext cx="1853328" cy="34855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b="1">
                <a:solidFill>
                  <a:srgbClr val="1F2937"/>
                </a:solidFill>
                <a:latin typeface="Poppins"/>
              </a:rPr>
              <a:t>Error Handling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00439" y="3918189"/>
            <a:ext cx="2674065" cy="2789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Poppins"/>
              </a:rPr>
              <a:t>Non-leaf &amp; low-quality detection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9584" y="4495799"/>
            <a:ext cx="6248243" cy="761999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F0FDF4"/>
              </a:gs>
              <a:gs pos="100000">
                <a:srgbClr val="DCFCE7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7" name="Round Same Side Corner Rectangle 36"/>
          <p:cNvSpPr/>
          <p:nvPr/>
        </p:nvSpPr>
        <p:spPr>
          <a:xfrm rot="16200000">
            <a:off x="294625" y="4810758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00079" y="4779645"/>
            <a:ext cx="228594" cy="19430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142971" y="4616217"/>
            <a:ext cx="5562460" cy="52116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74151"/>
                </a:solidFill>
                <a:latin typeface="Poppins"/>
              </a:rPr>
              <a:t>16 Disease Classes:</a:t>
            </a:r>
            <a:r>
              <a:rPr sz="1400" b="0">
                <a:solidFill>
                  <a:srgbClr val="374151"/>
                </a:solidFill>
                <a:latin typeface="Poppins"/>
              </a:rPr>
              <a:t> Tomato (9 diseases + healthy), Potato (3 diseases + healthy), Pepper (2 diseases + healthy)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467413" y="1115785"/>
            <a:ext cx="285742" cy="24492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829354" y="1048198"/>
            <a:ext cx="2481705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2E7D32"/>
                </a:solidFill>
                <a:latin typeface="Poppins"/>
              </a:rPr>
              <a:t>Additional Features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67413" y="1600200"/>
            <a:ext cx="4114697" cy="72390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43" name="Round Same Side Corner Rectangle 42"/>
          <p:cNvSpPr/>
          <p:nvPr/>
        </p:nvSpPr>
        <p:spPr>
          <a:xfrm rot="16200000">
            <a:off x="7171503" y="1896110"/>
            <a:ext cx="723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657908" y="1864995"/>
            <a:ext cx="228594" cy="194309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000799" y="1708909"/>
            <a:ext cx="1744324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2937"/>
                </a:solidFill>
                <a:latin typeface="Poppins"/>
              </a:rPr>
              <a:t>Batch Processing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00799" y="1936989"/>
            <a:ext cx="1994392" cy="2789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Poppins"/>
              </a:rPr>
              <a:t>Upload multiple images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67413" y="2438400"/>
            <a:ext cx="4114697" cy="72390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48" name="Round Same Side Corner Rectangle 47"/>
          <p:cNvSpPr/>
          <p:nvPr/>
        </p:nvSpPr>
        <p:spPr>
          <a:xfrm rot="16200000">
            <a:off x="7171503" y="2734310"/>
            <a:ext cx="723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657908" y="2714625"/>
            <a:ext cx="228594" cy="17145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000799" y="2547109"/>
            <a:ext cx="1446165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2937"/>
                </a:solidFill>
                <a:latin typeface="Poppins"/>
              </a:rPr>
              <a:t>Export Results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00799" y="2775189"/>
            <a:ext cx="1587229" cy="2789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Poppins"/>
              </a:rPr>
              <a:t>PDF &amp; JSON format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67413" y="3276599"/>
            <a:ext cx="4114697" cy="72390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3" name="Round Same Side Corner Rectangle 52"/>
          <p:cNvSpPr/>
          <p:nvPr/>
        </p:nvSpPr>
        <p:spPr>
          <a:xfrm rot="16200000">
            <a:off x="7171503" y="3572509"/>
            <a:ext cx="723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657908" y="3575685"/>
            <a:ext cx="228594" cy="12572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8000799" y="3385310"/>
            <a:ext cx="1729897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2937"/>
                </a:solidFill>
                <a:latin typeface="Poppins"/>
              </a:rPr>
              <a:t>Disease Tracking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00799" y="3613390"/>
            <a:ext cx="1901418" cy="2789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Poppins"/>
              </a:rPr>
              <a:t>Monitor disease trends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467413" y="4114800"/>
            <a:ext cx="4114697" cy="72390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8" name="Round Same Side Corner Rectangle 57"/>
          <p:cNvSpPr/>
          <p:nvPr/>
        </p:nvSpPr>
        <p:spPr>
          <a:xfrm rot="16200000">
            <a:off x="7171503" y="4410710"/>
            <a:ext cx="723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657908" y="4386738"/>
            <a:ext cx="228594" cy="180022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8000799" y="4223509"/>
            <a:ext cx="1303498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2937"/>
                </a:solidFill>
                <a:latin typeface="Poppins"/>
              </a:rPr>
              <a:t>Offline Mode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00799" y="4451589"/>
            <a:ext cx="2295757" cy="2789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Poppins"/>
              </a:rPr>
              <a:t>Deploy locally for offline use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467413" y="4952999"/>
            <a:ext cx="4114697" cy="72390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3" name="Round Same Side Corner Rectangle 62"/>
          <p:cNvSpPr/>
          <p:nvPr/>
        </p:nvSpPr>
        <p:spPr>
          <a:xfrm rot="16200000">
            <a:off x="7171503" y="5248909"/>
            <a:ext cx="723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7657908" y="5206365"/>
            <a:ext cx="228594" cy="217170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8000799" y="5061710"/>
            <a:ext cx="1861343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2937"/>
                </a:solidFill>
                <a:latin typeface="Poppins"/>
              </a:rPr>
              <a:t>Mobile Responsive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000799" y="5289790"/>
            <a:ext cx="1709058" cy="2789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Poppins"/>
              </a:rPr>
              <a:t>Works on all devices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467413" y="5867399"/>
            <a:ext cx="4114697" cy="80010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3302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7619809" y="6205061"/>
            <a:ext cx="228594" cy="162877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7924601" y="6128510"/>
            <a:ext cx="1354794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2937"/>
                </a:solidFill>
                <a:latin typeface="Poppins"/>
              </a:rPr>
              <a:t>Performance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009195" y="6013690"/>
            <a:ext cx="1420518" cy="2789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Poppins"/>
              </a:rPr>
              <a:t>Detection Speed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248043" y="6203882"/>
            <a:ext cx="1181670" cy="35573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E7D32"/>
                </a:solidFill>
                <a:latin typeface="Poppins"/>
              </a:rPr>
              <a:t>&lt;200ms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6972300"/>
            <a:ext cx="12191695" cy="0"/>
          </a:xfrm>
          <a:prstGeom prst="rect">
            <a:avLst/>
          </a:prstGeom>
          <a:gradFill rotWithShape="1">
            <a:gsLst>
              <a:gs pos="0">
                <a:srgbClr val="81C784"/>
              </a:gs>
              <a:gs pos="50000">
                <a:srgbClr val="4CAF50"/>
              </a:gs>
              <a:gs pos="100000">
                <a:srgbClr val="2E7D32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1999"/>
          </a:xfrm>
          <a:prstGeom prst="rect">
            <a:avLst/>
          </a:prstGeom>
          <a:gradFill rotWithShape="1">
            <a:gsLst>
              <a:gs pos="0">
                <a:srgbClr val="2E7D32"/>
              </a:gs>
              <a:gs pos="100000">
                <a:srgbClr val="4CAF5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584" y="190499"/>
            <a:ext cx="2143071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</a:rPr>
              <a:t>Advantages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1127448"/>
            <a:ext cx="285742" cy="2216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1525" y="1045954"/>
            <a:ext cx="3122906" cy="38459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E7D32"/>
                </a:solidFill>
                <a:latin typeface="Poppins"/>
              </a:rPr>
              <a:t>Technical Advantages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584" y="1600200"/>
            <a:ext cx="5333866" cy="95249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199375" y="2010409"/>
            <a:ext cx="952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79" y="1871954"/>
            <a:ext cx="285742" cy="25659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76318" y="1753234"/>
            <a:ext cx="2084160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600" b="1">
                <a:solidFill>
                  <a:srgbClr val="1F2937"/>
                </a:solidFill>
                <a:latin typeface="Poppins"/>
              </a:rPr>
              <a:t>Lightweight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76318" y="2070858"/>
            <a:ext cx="2715743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Poppins"/>
              </a:rPr>
              <a:t>Only </a:t>
            </a:r>
            <a:r>
              <a:rPr sz="1400" b="1">
                <a:solidFill>
                  <a:srgbClr val="2E7D32"/>
                </a:solidFill>
                <a:latin typeface="Poppins"/>
              </a:rPr>
              <a:t>13.8 MB</a:t>
            </a:r>
            <a:r>
              <a:rPr sz="1100" b="0">
                <a:solidFill>
                  <a:srgbClr val="4B5563"/>
                </a:solidFill>
                <a:latin typeface="Poppins"/>
              </a:rPr>
              <a:t> vs ResNet50's 100MB+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584" y="2705099"/>
            <a:ext cx="5333866" cy="95249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199375" y="3115308"/>
            <a:ext cx="952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8179" y="2976854"/>
            <a:ext cx="285742" cy="25659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76318" y="2858134"/>
            <a:ext cx="1696234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600" b="1">
                <a:solidFill>
                  <a:srgbClr val="1F2937"/>
                </a:solidFill>
                <a:latin typeface="Poppins"/>
              </a:rPr>
              <a:t>High 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6318" y="3175759"/>
            <a:ext cx="2943370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E7D32"/>
                </a:solidFill>
                <a:latin typeface="Poppins"/>
              </a:rPr>
              <a:t>95%+</a:t>
            </a:r>
            <a:r>
              <a:rPr sz="1100" b="0">
                <a:solidFill>
                  <a:srgbClr val="4B5563"/>
                </a:solidFill>
                <a:latin typeface="Poppins"/>
              </a:rPr>
              <a:t> on test set with transfer learning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584" y="3809999"/>
            <a:ext cx="5333866" cy="9144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218424" y="4201159"/>
            <a:ext cx="914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8179" y="4099248"/>
            <a:ext cx="285742" cy="22160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76318" y="3963034"/>
            <a:ext cx="2372701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600" b="1">
                <a:solidFill>
                  <a:srgbClr val="1F2937"/>
                </a:solidFill>
                <a:latin typeface="Poppins"/>
              </a:rPr>
              <a:t>Efficient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76318" y="4267508"/>
            <a:ext cx="3820213" cy="30418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Poppins"/>
              </a:rPr>
              <a:t>Depthwise-separable convolutions for edge devices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584" y="4876800"/>
            <a:ext cx="5333866" cy="95249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199375" y="5287009"/>
            <a:ext cx="952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8179" y="5166048"/>
            <a:ext cx="285742" cy="22160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76318" y="5029833"/>
            <a:ext cx="1641731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600" b="1">
                <a:solidFill>
                  <a:srgbClr val="1F2937"/>
                </a:solidFill>
                <a:latin typeface="Poppins"/>
              </a:rPr>
              <a:t>Fast Inference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76318" y="5347459"/>
            <a:ext cx="2791085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E7D32"/>
                </a:solidFill>
                <a:latin typeface="Poppins"/>
              </a:rPr>
              <a:t>&lt;120ms</a:t>
            </a:r>
            <a:r>
              <a:rPr sz="1100" b="0">
                <a:solidFill>
                  <a:srgbClr val="4B5563"/>
                </a:solidFill>
                <a:latin typeface="Poppins"/>
              </a:rPr>
              <a:t> per image, no GPU required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48243" y="1136196"/>
            <a:ext cx="285742" cy="20410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610184" y="1045954"/>
            <a:ext cx="3013902" cy="38459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E7D32"/>
                </a:solidFill>
                <a:latin typeface="Poppins"/>
              </a:rPr>
              <a:t>Practical Advantages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48243" y="1600200"/>
            <a:ext cx="5333866" cy="9144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5857083" y="1991360"/>
            <a:ext cx="914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76838" y="1883617"/>
            <a:ext cx="285742" cy="23326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914977" y="1753234"/>
            <a:ext cx="1659365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600" b="1">
                <a:solidFill>
                  <a:srgbClr val="1F2937"/>
                </a:solidFill>
                <a:latin typeface="Poppins"/>
              </a:rPr>
              <a:t>Cost-Effective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4977" y="2057707"/>
            <a:ext cx="2888868" cy="30418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Poppins"/>
              </a:rPr>
              <a:t>Free, open-source, &lt;$10/month hosting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48243" y="2667000"/>
            <a:ext cx="5333866" cy="9144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4" name="Round Same Side Corner Rectangle 33"/>
          <p:cNvSpPr/>
          <p:nvPr/>
        </p:nvSpPr>
        <p:spPr>
          <a:xfrm rot="16200000">
            <a:off x="5857083" y="3058160"/>
            <a:ext cx="914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476838" y="2964996"/>
            <a:ext cx="285742" cy="20410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914977" y="2820034"/>
            <a:ext cx="1287468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600" b="1">
                <a:solidFill>
                  <a:srgbClr val="1F2937"/>
                </a:solidFill>
                <a:latin typeface="Poppins"/>
              </a:rPr>
              <a:t>Accessible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14977" y="3124507"/>
            <a:ext cx="2856808" cy="30418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Poppins"/>
              </a:rPr>
              <a:t>No technical expertise, mobile-friendly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48243" y="3733799"/>
            <a:ext cx="5333866" cy="9144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9" name="Round Same Side Corner Rectangle 38"/>
          <p:cNvSpPr/>
          <p:nvPr/>
        </p:nvSpPr>
        <p:spPr>
          <a:xfrm rot="16200000">
            <a:off x="5857083" y="4124959"/>
            <a:ext cx="914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476838" y="4014301"/>
            <a:ext cx="285742" cy="23909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914977" y="3886833"/>
            <a:ext cx="1824474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600" b="1">
                <a:solidFill>
                  <a:srgbClr val="1F2937"/>
                </a:solidFill>
                <a:latin typeface="Poppins"/>
              </a:rPr>
              <a:t>User Experience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14977" y="4191308"/>
            <a:ext cx="3339312" cy="30418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Poppins"/>
              </a:rPr>
              <a:t>Instant feedback &lt;1 second, intuitive interface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48243" y="4800600"/>
            <a:ext cx="5333866" cy="9144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4" name="Round Same Side Corner Rectangle 43"/>
          <p:cNvSpPr/>
          <p:nvPr/>
        </p:nvSpPr>
        <p:spPr>
          <a:xfrm rot="16200000">
            <a:off x="5857083" y="5191760"/>
            <a:ext cx="914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476838" y="5066522"/>
            <a:ext cx="285742" cy="268255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914977" y="4953634"/>
            <a:ext cx="995722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600" b="1">
                <a:solidFill>
                  <a:srgbClr val="1F2937"/>
                </a:solidFill>
                <a:latin typeface="Poppins"/>
              </a:rPr>
              <a:t>Reliable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14977" y="5258107"/>
            <a:ext cx="3445110" cy="30418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Poppins"/>
              </a:rPr>
              <a:t>Robust error handling, confidence thresholding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81C784"/>
              </a:gs>
              <a:gs pos="50000">
                <a:srgbClr val="4CAF50"/>
              </a:gs>
              <a:gs pos="100000">
                <a:srgbClr val="2E7D32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1999"/>
          </a:xfrm>
          <a:prstGeom prst="rect">
            <a:avLst/>
          </a:prstGeom>
          <a:gradFill rotWithShape="1">
            <a:gsLst>
              <a:gs pos="0">
                <a:srgbClr val="2E7D32"/>
              </a:gs>
              <a:gs pos="100000">
                <a:srgbClr val="4CAF5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584" y="190499"/>
            <a:ext cx="2019249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</a:rPr>
              <a:t>Limitations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1141281"/>
            <a:ext cx="285742" cy="2332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1525" y="1065618"/>
            <a:ext cx="2977033" cy="38459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E7D32"/>
                </a:solidFill>
                <a:latin typeface="Poppins"/>
              </a:rPr>
              <a:t>Technical Limitations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584" y="1619864"/>
            <a:ext cx="5333866" cy="1181099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85075" y="2144373"/>
            <a:ext cx="11810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79" y="1887244"/>
            <a:ext cx="285742" cy="2653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76318" y="1772898"/>
            <a:ext cx="2864823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600" b="1">
                <a:solidFill>
                  <a:srgbClr val="1F2937"/>
                </a:solidFill>
                <a:latin typeface="Poppins"/>
              </a:rPr>
              <a:t>Environmental Sensitivity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76318" y="2204821"/>
            <a:ext cx="4476638" cy="31598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Poppins"/>
              </a:rPr>
              <a:t>Accuracy varies: </a:t>
            </a:r>
            <a:r>
              <a:rPr sz="1400" b="1">
                <a:solidFill>
                  <a:srgbClr val="F57C00"/>
                </a:solidFill>
                <a:latin typeface="Poppins"/>
              </a:rPr>
              <a:t>85-97%</a:t>
            </a:r>
            <a:r>
              <a:rPr sz="1100" b="0">
                <a:solidFill>
                  <a:srgbClr val="4B5563"/>
                </a:solidFill>
                <a:latin typeface="Poppins"/>
              </a:rPr>
              <a:t> depending on lighting conditions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584" y="2953363"/>
            <a:ext cx="5333866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104124" y="3458823"/>
            <a:ext cx="11430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8179" y="3251360"/>
            <a:ext cx="285742" cy="20410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76318" y="3106398"/>
            <a:ext cx="2085764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600" b="1">
                <a:solidFill>
                  <a:srgbClr val="1F2937"/>
                </a:solidFill>
                <a:latin typeface="Poppins"/>
              </a:rPr>
              <a:t>Model Constraints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6318" y="3422579"/>
            <a:ext cx="4476638" cy="50937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Poppins"/>
              </a:rPr>
              <a:t>Trained on controlled dataset, struggles with multiple infections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584" y="4248764"/>
            <a:ext cx="5333866" cy="95249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199375" y="4658973"/>
            <a:ext cx="952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8179" y="4532181"/>
            <a:ext cx="285742" cy="23326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76318" y="4401798"/>
            <a:ext cx="2209195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600" b="1">
                <a:solidFill>
                  <a:srgbClr val="1F2937"/>
                </a:solidFill>
                <a:latin typeface="Poppins"/>
              </a:rPr>
              <a:t>Early Disease Stage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76318" y="4719422"/>
            <a:ext cx="3045962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Poppins"/>
              </a:rPr>
              <a:t>May miss </a:t>
            </a:r>
            <a:r>
              <a:rPr sz="1400" b="1">
                <a:solidFill>
                  <a:srgbClr val="F57C00"/>
                </a:solidFill>
                <a:latin typeface="Poppins"/>
              </a:rPr>
              <a:t>&gt;10%</a:t>
            </a:r>
            <a:r>
              <a:rPr sz="1100" b="0">
                <a:solidFill>
                  <a:srgbClr val="4B5563"/>
                </a:solidFill>
                <a:latin typeface="Poppins"/>
              </a:rPr>
              <a:t> of early-stage infections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48243" y="1150028"/>
            <a:ext cx="285742" cy="21577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610184" y="1065618"/>
            <a:ext cx="2868029" cy="38459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E7D32"/>
                </a:solidFill>
                <a:latin typeface="Poppins"/>
              </a:rPr>
              <a:t>Practical Limitations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48243" y="1619864"/>
            <a:ext cx="5333866" cy="95249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5838034" y="2030073"/>
            <a:ext cx="952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76838" y="1897449"/>
            <a:ext cx="285742" cy="24492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914977" y="1772898"/>
            <a:ext cx="2574679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600" b="1">
                <a:solidFill>
                  <a:srgbClr val="1F2937"/>
                </a:solidFill>
                <a:latin typeface="Poppins"/>
              </a:rPr>
              <a:t>Limited Crop Coverage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14977" y="2090522"/>
            <a:ext cx="4378058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Poppins"/>
              </a:rPr>
              <a:t>Only </a:t>
            </a:r>
            <a:r>
              <a:rPr sz="1400" b="1">
                <a:solidFill>
                  <a:srgbClr val="FB8C00"/>
                </a:solidFill>
                <a:latin typeface="Poppins"/>
              </a:rPr>
              <a:t>3 crops</a:t>
            </a:r>
            <a:r>
              <a:rPr sz="1100" b="0">
                <a:solidFill>
                  <a:srgbClr val="4B5563"/>
                </a:solidFill>
                <a:latin typeface="Poppins"/>
              </a:rPr>
              <a:t> (Tomato, Potato, Pepper) with </a:t>
            </a:r>
            <a:r>
              <a:rPr sz="1400" b="1">
                <a:solidFill>
                  <a:srgbClr val="FB8C00"/>
                </a:solidFill>
                <a:latin typeface="Poppins"/>
              </a:rPr>
              <a:t>14 diseases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48243" y="2724763"/>
            <a:ext cx="5333866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5742783" y="3230223"/>
            <a:ext cx="11430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76838" y="3012555"/>
            <a:ext cx="285742" cy="22451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914977" y="2877798"/>
            <a:ext cx="2367892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600" b="1">
                <a:solidFill>
                  <a:srgbClr val="1F2937"/>
                </a:solidFill>
                <a:latin typeface="Poppins"/>
              </a:rPr>
              <a:t>Image Requirements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4977" y="3296571"/>
            <a:ext cx="4476638" cy="30418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Poppins"/>
              </a:rPr>
              <a:t>Requires clear, close-up leaf photos; blurry images rejected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48243" y="4020164"/>
            <a:ext cx="5333866" cy="9144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4" name="Round Same Side Corner Rectangle 33"/>
          <p:cNvSpPr/>
          <p:nvPr/>
        </p:nvSpPr>
        <p:spPr>
          <a:xfrm rot="16200000">
            <a:off x="5857083" y="4411324"/>
            <a:ext cx="914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476838" y="4307955"/>
            <a:ext cx="285742" cy="22451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914977" y="4173197"/>
            <a:ext cx="2741391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600" b="1">
                <a:solidFill>
                  <a:srgbClr val="1F2937"/>
                </a:solidFill>
                <a:latin typeface="Poppins"/>
              </a:rPr>
              <a:t>Deployment Constraints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14977" y="4477671"/>
            <a:ext cx="4180888" cy="30418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Poppins"/>
              </a:rPr>
              <a:t>Requires backend server, internet needed for web version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81C784"/>
              </a:gs>
              <a:gs pos="50000">
                <a:srgbClr val="4CAF50"/>
              </a:gs>
              <a:gs pos="100000">
                <a:srgbClr val="2E7D32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1999"/>
          </a:xfrm>
          <a:prstGeom prst="rect">
            <a:avLst/>
          </a:prstGeom>
          <a:gradFill rotWithShape="1">
            <a:gsLst>
              <a:gs pos="0">
                <a:srgbClr val="2E7D32"/>
              </a:gs>
              <a:gs pos="100000">
                <a:srgbClr val="4CAF5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584" y="190499"/>
            <a:ext cx="4009924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</a:rPr>
              <a:t>Future Enhancements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1115785"/>
            <a:ext cx="285742" cy="244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1525" y="1038773"/>
            <a:ext cx="2000804" cy="39895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E7D32"/>
                </a:solidFill>
                <a:latin typeface="Poppins"/>
              </a:rPr>
              <a:t>Short-Term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" y="1522513"/>
            <a:ext cx="1003736" cy="3077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1040"/>
              </a:spcAft>
            </a:pPr>
            <a:r>
              <a:rPr sz="1200" b="0">
                <a:solidFill>
                  <a:srgbClr val="4B5563"/>
                </a:solidFill>
                <a:latin typeface="Poppins"/>
              </a:rPr>
              <a:t>1-3 months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584" y="1943100"/>
            <a:ext cx="3505112" cy="761999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" name="Round Same Side Corner Rectangle 7"/>
          <p:cNvSpPr/>
          <p:nvPr/>
        </p:nvSpPr>
        <p:spPr>
          <a:xfrm rot="16200000">
            <a:off x="294625" y="22580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079" y="2177414"/>
            <a:ext cx="228594" cy="21717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2971" y="2058034"/>
            <a:ext cx="2127442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Poppins"/>
              </a:rPr>
              <a:t>Mobile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2971" y="2318694"/>
            <a:ext cx="3041154" cy="27751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Poppins"/>
              </a:rPr>
              <a:t>React Native/Flutter with offline inference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584" y="2819399"/>
            <a:ext cx="3505112" cy="761999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294625" y="3134358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0079" y="3079432"/>
            <a:ext cx="228594" cy="16573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42971" y="2934335"/>
            <a:ext cx="2411173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Poppins"/>
              </a:rPr>
              <a:t>Database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2971" y="3194995"/>
            <a:ext cx="2940164" cy="27751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Poppins"/>
              </a:rPr>
              <a:t>Track disease trends and field reporting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584" y="3695699"/>
            <a:ext cx="3505112" cy="761999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294625" y="4010658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0079" y="3941445"/>
            <a:ext cx="228594" cy="19430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42971" y="3810634"/>
            <a:ext cx="1973554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Poppins"/>
              </a:rPr>
              <a:t>Batch 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2971" y="4071295"/>
            <a:ext cx="2214004" cy="27751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Poppins"/>
              </a:rPr>
              <a:t>Multiple images &amp; CSV export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9584" y="4572000"/>
            <a:ext cx="3505112" cy="761999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294625" y="48869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0079" y="4816316"/>
            <a:ext cx="228594" cy="19716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42971" y="4686934"/>
            <a:ext cx="2601931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Poppins"/>
              </a:rPr>
              <a:t>Enhanced Remediation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2971" y="4947595"/>
            <a:ext cx="2597121" cy="27751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Poppins"/>
              </a:rPr>
              <a:t>Regional treatment &amp; supplier links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43291" y="1159522"/>
            <a:ext cx="285742" cy="15745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705232" y="1038773"/>
            <a:ext cx="2456057" cy="39895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E7D32"/>
                </a:solidFill>
                <a:latin typeface="Poppins"/>
              </a:rPr>
              <a:t>Medium-Term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291" y="1522513"/>
            <a:ext cx="1091902" cy="3077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1040"/>
              </a:spcAft>
            </a:pPr>
            <a:r>
              <a:rPr sz="1200" b="0">
                <a:solidFill>
                  <a:srgbClr val="4B5563"/>
                </a:solidFill>
                <a:latin typeface="Poppins"/>
              </a:rPr>
              <a:t>3-12 months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43291" y="1943100"/>
            <a:ext cx="3505112" cy="761999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4028332" y="22580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33786" y="2183129"/>
            <a:ext cx="228594" cy="20573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876678" y="2058034"/>
            <a:ext cx="1930272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Poppins"/>
              </a:rPr>
              <a:t>Model Expansion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76678" y="2318694"/>
            <a:ext cx="1816459" cy="27751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E7D32"/>
                </a:solidFill>
                <a:latin typeface="Poppins"/>
              </a:rPr>
              <a:t>10+ crops</a:t>
            </a:r>
            <a:r>
              <a:rPr sz="1100" b="0">
                <a:solidFill>
                  <a:srgbClr val="4B5563"/>
                </a:solidFill>
                <a:latin typeface="Poppins"/>
              </a:rPr>
              <a:t>, 50+ diseases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43291" y="2819399"/>
            <a:ext cx="3505112" cy="761999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6" name="Round Same Side Corner Rectangle 35"/>
          <p:cNvSpPr/>
          <p:nvPr/>
        </p:nvSpPr>
        <p:spPr>
          <a:xfrm rot="16200000">
            <a:off x="4028332" y="3134358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533786" y="3085147"/>
            <a:ext cx="228594" cy="15430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876678" y="2934335"/>
            <a:ext cx="2298963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Poppins"/>
              </a:rPr>
              <a:t>Advanced Detection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76678" y="3194995"/>
            <a:ext cx="2722155" cy="27751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Poppins"/>
              </a:rPr>
              <a:t>Multi-disease &amp; severity assessment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43291" y="3695699"/>
            <a:ext cx="3505112" cy="761999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1" name="Round Same Side Corner Rectangle 40"/>
          <p:cNvSpPr/>
          <p:nvPr/>
        </p:nvSpPr>
        <p:spPr>
          <a:xfrm rot="16200000">
            <a:off x="4028332" y="4010658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533786" y="3955732"/>
            <a:ext cx="228594" cy="16573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876678" y="3810634"/>
            <a:ext cx="2101794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Poppins"/>
              </a:rPr>
              <a:t>User Management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76678" y="4071295"/>
            <a:ext cx="2600327" cy="27751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Poppins"/>
              </a:rPr>
              <a:t>Farmer profiles &amp; historical records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43291" y="4572000"/>
            <a:ext cx="3505112" cy="761999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6" name="Round Same Side Corner Rectangle 45"/>
          <p:cNvSpPr/>
          <p:nvPr/>
        </p:nvSpPr>
        <p:spPr>
          <a:xfrm rot="16200000">
            <a:off x="4028332" y="48869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533786" y="4826317"/>
            <a:ext cx="228594" cy="17716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4876678" y="4686934"/>
            <a:ext cx="1975156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Poppins"/>
              </a:rPr>
              <a:t>AI Improvements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76678" y="4947595"/>
            <a:ext cx="2508957" cy="27751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Poppins"/>
              </a:rPr>
              <a:t>Ensemble models &amp; explainability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076998" y="1118701"/>
            <a:ext cx="285742" cy="239096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438939" y="1038773"/>
            <a:ext cx="1911036" cy="39895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E7D32"/>
                </a:solidFill>
                <a:latin typeface="Poppins"/>
              </a:rPr>
              <a:t>Long-Term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76998" y="1522513"/>
            <a:ext cx="1021370" cy="3077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1040"/>
              </a:spcAft>
            </a:pPr>
            <a:r>
              <a:rPr sz="1200" b="0">
                <a:solidFill>
                  <a:srgbClr val="4B5563"/>
                </a:solidFill>
                <a:latin typeface="Poppins"/>
              </a:rPr>
              <a:t>12+ months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076998" y="1943100"/>
            <a:ext cx="3505112" cy="761999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4" name="Round Same Side Corner Rectangle 53"/>
          <p:cNvSpPr/>
          <p:nvPr/>
        </p:nvSpPr>
        <p:spPr>
          <a:xfrm rot="16200000">
            <a:off x="7762039" y="22580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267493" y="2197417"/>
            <a:ext cx="228594" cy="17716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8610384" y="2058034"/>
            <a:ext cx="1694631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Poppins"/>
              </a:rPr>
              <a:t>IoT Integration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10384" y="2318694"/>
            <a:ext cx="2611549" cy="27751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Poppins"/>
              </a:rPr>
              <a:t>Weather stations &amp; smart irrigation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076998" y="2819399"/>
            <a:ext cx="3505112" cy="761999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9" name="Round Same Side Corner Rectangle 58"/>
          <p:cNvSpPr/>
          <p:nvPr/>
        </p:nvSpPr>
        <p:spPr>
          <a:xfrm rot="16200000">
            <a:off x="7762039" y="3134358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8267493" y="3069431"/>
            <a:ext cx="228594" cy="185737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8610384" y="2934335"/>
            <a:ext cx="2359877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Poppins"/>
              </a:rPr>
              <a:t>Precision Agriculture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10384" y="3194995"/>
            <a:ext cx="2943370" cy="27751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Poppins"/>
              </a:rPr>
              <a:t>Drone monitoring &amp; disease forecasting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076998" y="3695699"/>
            <a:ext cx="3505112" cy="761999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4" name="Round Same Side Corner Rectangle 63"/>
          <p:cNvSpPr/>
          <p:nvPr/>
        </p:nvSpPr>
        <p:spPr>
          <a:xfrm rot="16200000">
            <a:off x="7762039" y="4010658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8267493" y="3950017"/>
            <a:ext cx="228594" cy="177164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8610384" y="3810634"/>
            <a:ext cx="2250873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Poppins"/>
              </a:rPr>
              <a:t>Enterprise Solutions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10384" y="4071295"/>
            <a:ext cx="2791085" cy="27751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Poppins"/>
              </a:rPr>
              <a:t>Government surveillance &amp; insurance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076998" y="4572000"/>
            <a:ext cx="3505112" cy="761999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9" name="Round Same Side Corner Rectangle 68"/>
          <p:cNvSpPr/>
          <p:nvPr/>
        </p:nvSpPr>
        <p:spPr>
          <a:xfrm rot="16200000">
            <a:off x="7762039" y="48869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8267493" y="4852034"/>
            <a:ext cx="228594" cy="125729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8610384" y="4686934"/>
            <a:ext cx="2297360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Poppins"/>
              </a:rPr>
              <a:t>Knowledge Platform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610384" y="4947595"/>
            <a:ext cx="2718949" cy="27751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Poppins"/>
              </a:rPr>
              <a:t>Farmer community &amp; expert network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81C784"/>
              </a:gs>
              <a:gs pos="50000">
                <a:srgbClr val="4CAF50"/>
              </a:gs>
              <a:gs pos="100000">
                <a:srgbClr val="2E7D32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1999"/>
          </a:xfrm>
          <a:prstGeom prst="rect">
            <a:avLst/>
          </a:prstGeom>
          <a:gradFill rotWithShape="1">
            <a:gsLst>
              <a:gs pos="0">
                <a:srgbClr val="2E7D32"/>
              </a:gs>
              <a:gs pos="100000">
                <a:srgbClr val="4CAF5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584" y="190499"/>
            <a:ext cx="3057448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</a:rPr>
              <a:t>Results &amp; Output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1127448"/>
            <a:ext cx="285742" cy="2216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1525" y="1085850"/>
            <a:ext cx="2304992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2E7D32"/>
                </a:solidFill>
                <a:latin typeface="Poppins"/>
              </a:rPr>
              <a:t>Model Performance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584" y="1562100"/>
            <a:ext cx="2095447" cy="133350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8874" y="2162810"/>
            <a:ext cx="1333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3486" y="1757654"/>
            <a:ext cx="285742" cy="25659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0079" y="2133599"/>
            <a:ext cx="175255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4B5563"/>
                </a:solidFill>
                <a:latin typeface="Poppins"/>
              </a:rPr>
              <a:t>Test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79" y="2400300"/>
            <a:ext cx="1752556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2E7D32"/>
                </a:solidFill>
                <a:latin typeface="Poppins"/>
              </a:rPr>
              <a:t>95-98%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19329" y="1562100"/>
            <a:ext cx="2095447" cy="133350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2218619" y="2162810"/>
            <a:ext cx="1333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33706" y="1785354"/>
            <a:ext cx="285742" cy="20119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009824" y="2133599"/>
            <a:ext cx="175255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4B5563"/>
                </a:solidFill>
                <a:latin typeface="Poppins"/>
              </a:rPr>
              <a:t>Inference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9824" y="2400300"/>
            <a:ext cx="1752556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2E7D32"/>
                </a:solidFill>
                <a:latin typeface="Poppins"/>
              </a:rPr>
              <a:t>&lt;120ms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584" y="3009900"/>
            <a:ext cx="2095447" cy="133350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8874" y="3610610"/>
            <a:ext cx="1333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33486" y="3205454"/>
            <a:ext cx="285742" cy="25659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00079" y="3581400"/>
            <a:ext cx="175255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4B5563"/>
                </a:solidFill>
                <a:latin typeface="Poppins"/>
              </a:rPr>
              <a:t>Model Size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079" y="3848099"/>
            <a:ext cx="1752556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2E7D32"/>
                </a:solidFill>
                <a:latin typeface="Poppins"/>
              </a:rPr>
              <a:t>13.8 MB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19329" y="3009900"/>
            <a:ext cx="2095447" cy="133350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2218619" y="3610610"/>
            <a:ext cx="1333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33706" y="3211285"/>
            <a:ext cx="285742" cy="24492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009824" y="3581400"/>
            <a:ext cx="175255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4B5563"/>
                </a:solidFill>
                <a:latin typeface="Poppins"/>
              </a:rPr>
              <a:t>Disease Classes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09824" y="3848099"/>
            <a:ext cx="1752556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2E7D32"/>
                </a:solidFill>
                <a:latin typeface="Poppins"/>
              </a:rPr>
              <a:t>16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9584" y="4533900"/>
            <a:ext cx="4295667" cy="167640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1980" y="4767262"/>
            <a:ext cx="228594" cy="14287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66773" y="4705350"/>
            <a:ext cx="187637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Poppins"/>
              </a:rPr>
              <a:t>Performance by Crop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1980" y="5124449"/>
            <a:ext cx="59053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Poppins"/>
              </a:rPr>
              <a:t>Tomato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00399" y="5105400"/>
            <a:ext cx="75245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2E7D32"/>
                </a:solidFill>
                <a:latin typeface="Poppins"/>
              </a:rPr>
              <a:t>96-98%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1980" y="5467349"/>
            <a:ext cx="49528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Poppins"/>
              </a:rPr>
              <a:t>Potato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09924" y="5448300"/>
            <a:ext cx="74293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2E7D32"/>
                </a:solidFill>
                <a:latin typeface="Poppins"/>
              </a:rPr>
              <a:t>94-97%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1980" y="5810249"/>
            <a:ext cx="54291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Poppins"/>
              </a:rPr>
              <a:t>Pepper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00399" y="5791200"/>
            <a:ext cx="75245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2E7D32"/>
                </a:solidFill>
                <a:latin typeface="Poppins"/>
              </a:rPr>
              <a:t>95-99%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133846" y="1104122"/>
            <a:ext cx="285742" cy="26825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95787" y="1085850"/>
            <a:ext cx="2628834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2E7D32"/>
                </a:solidFill>
                <a:latin typeface="Poppins"/>
              </a:rPr>
              <a:t>Real-World Validation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133846" y="1562100"/>
            <a:ext cx="3162220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 Same Side Corner Rectangle 37"/>
          <p:cNvSpPr/>
          <p:nvPr/>
        </p:nvSpPr>
        <p:spPr>
          <a:xfrm rot="16200000">
            <a:off x="4856986" y="1838960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286242" y="1807845"/>
            <a:ext cx="228594" cy="19430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591035" y="1676400"/>
            <a:ext cx="1495387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Poppins"/>
              </a:rPr>
              <a:t>Clear Image Accuracy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91035" y="1866899"/>
            <a:ext cx="149538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2E7D32"/>
                </a:solidFill>
                <a:latin typeface="Poppins"/>
              </a:rPr>
              <a:t>97%+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419889" y="1562100"/>
            <a:ext cx="3162220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 Same Side Corner Rectangle 42"/>
          <p:cNvSpPr/>
          <p:nvPr/>
        </p:nvSpPr>
        <p:spPr>
          <a:xfrm rot="16200000">
            <a:off x="8143029" y="1838960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572285" y="1807845"/>
            <a:ext cx="228594" cy="194309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877078" y="1676400"/>
            <a:ext cx="1371565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Poppins"/>
              </a:rPr>
              <a:t>Disease Detection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77078" y="1866899"/>
            <a:ext cx="137156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2E7D32"/>
                </a:solidFill>
                <a:latin typeface="Poppins"/>
              </a:rPr>
              <a:t>Fungal &amp; Viral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133846" y="2362199"/>
            <a:ext cx="3162220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 Same Side Corner Rectangle 47"/>
          <p:cNvSpPr/>
          <p:nvPr/>
        </p:nvSpPr>
        <p:spPr>
          <a:xfrm rot="16200000">
            <a:off x="4856986" y="2639059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286242" y="2622232"/>
            <a:ext cx="228594" cy="165734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5591035" y="2476499"/>
            <a:ext cx="133346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Poppins"/>
              </a:rPr>
              <a:t>Healthy Recognition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91035" y="2667000"/>
            <a:ext cx="133346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2E7D32"/>
                </a:solidFill>
                <a:latin typeface="Poppins"/>
              </a:rPr>
              <a:t>99%+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419889" y="2362199"/>
            <a:ext cx="3162220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 Same Side Corner Rectangle 52"/>
          <p:cNvSpPr/>
          <p:nvPr/>
        </p:nvSpPr>
        <p:spPr>
          <a:xfrm rot="16200000">
            <a:off x="8143029" y="2639059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572285" y="2622232"/>
            <a:ext cx="228594" cy="165734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8877078" y="2476499"/>
            <a:ext cx="1171545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Poppins"/>
              </a:rPr>
              <a:t>Non-Leaf Filtering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77078" y="2667000"/>
            <a:ext cx="117154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2E7D32"/>
                </a:solidFill>
                <a:latin typeface="Poppins"/>
              </a:rPr>
              <a:t>Effective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133846" y="3200400"/>
            <a:ext cx="6448263" cy="2247899"/>
          </a:xfrm>
          <a:prstGeom prst="roundRect">
            <a:avLst>
              <a:gd name="adj" fmla="val 677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286242" y="3416617"/>
            <a:ext cx="228594" cy="177164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5591035" y="3371850"/>
            <a:ext cx="213354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Poppins"/>
              </a:rPr>
              <a:t>Sample Output Example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286242" y="3771900"/>
            <a:ext cx="6143471" cy="1523999"/>
          </a:xfrm>
          <a:prstGeom prst="roundRect">
            <a:avLst>
              <a:gd name="adj" fmla="val 10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400539" y="3886200"/>
            <a:ext cx="5914877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374151"/>
                </a:solidFill>
                <a:latin typeface="SFMono-Regular"/>
              </a:rPr>
              <a:t>Status:</a:t>
            </a:r>
            <a:r>
              <a:rPr sz="837" b="0">
                <a:solidFill>
                  <a:srgbClr val="000000"/>
                </a:solidFill>
                <a:latin typeface="SFMono-Regular"/>
              </a:rPr>
              <a:t> </a:t>
            </a:r>
            <a:r>
              <a:rPr sz="837" b="0">
                <a:solidFill>
                  <a:srgbClr val="2E7D32"/>
                </a:solidFill>
                <a:latin typeface="SFMono-Regular"/>
              </a:rPr>
              <a:t>success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00539" y="4114800"/>
            <a:ext cx="5914877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374151"/>
                </a:solidFill>
                <a:latin typeface="SFMono-Regular"/>
              </a:rPr>
              <a:t>Plant:</a:t>
            </a:r>
            <a:r>
              <a:rPr sz="837" b="0">
                <a:solidFill>
                  <a:srgbClr val="000000"/>
                </a:solidFill>
                <a:latin typeface="SFMono-Regular"/>
              </a:rPr>
              <a:t> Tomato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00539" y="4343400"/>
            <a:ext cx="5914877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374151"/>
                </a:solidFill>
                <a:latin typeface="SFMono-Regular"/>
              </a:rPr>
              <a:t>Disease:</a:t>
            </a:r>
            <a:r>
              <a:rPr sz="837" b="0">
                <a:solidFill>
                  <a:srgbClr val="000000"/>
                </a:solidFill>
                <a:latin typeface="SFMono-Regular"/>
              </a:rPr>
              <a:t> Early Blight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00539" y="4572000"/>
            <a:ext cx="5914877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374151"/>
                </a:solidFill>
                <a:latin typeface="SFMono-Regular"/>
              </a:rPr>
              <a:t>Confidence:</a:t>
            </a:r>
            <a:r>
              <a:rPr sz="837" b="0">
                <a:solidFill>
                  <a:srgbClr val="000000"/>
                </a:solidFill>
                <a:latin typeface="SFMono-Regular"/>
              </a:rPr>
              <a:t> </a:t>
            </a:r>
            <a:r>
              <a:rPr sz="837" b="0">
                <a:solidFill>
                  <a:srgbClr val="2E7D32"/>
                </a:solidFill>
                <a:latin typeface="SFMono-Regular"/>
              </a:rPr>
              <a:t>95.34%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00539" y="4800600"/>
            <a:ext cx="5914877" cy="3809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SFMono-Regular"/>
              </a:rPr>
              <a:t>Remedy:</a:t>
            </a:r>
            <a:r>
              <a:rPr sz="837" b="0">
                <a:solidFill>
                  <a:srgbClr val="000000"/>
                </a:solidFill>
                <a:latin typeface="SFMono-Regular"/>
              </a:rPr>
              <a:t> Apply fungicides (chlorothalonil/mancozeb). Remove lower infected leaves.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81C784"/>
              </a:gs>
              <a:gs pos="50000">
                <a:srgbClr val="4CAF50"/>
              </a:gs>
              <a:gs pos="100000">
                <a:srgbClr val="2E7D32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CE219A9-03A0-FCC8-B19D-8124EDF638C6}"/>
              </a:ext>
            </a:extLst>
          </p:cNvPr>
          <p:cNvSpPr/>
          <p:nvPr/>
        </p:nvSpPr>
        <p:spPr>
          <a:xfrm>
            <a:off x="0" y="0"/>
            <a:ext cx="12191695" cy="761999"/>
          </a:xfrm>
          <a:prstGeom prst="rect">
            <a:avLst/>
          </a:prstGeom>
          <a:gradFill rotWithShape="1">
            <a:gsLst>
              <a:gs pos="0">
                <a:srgbClr val="2E7D32"/>
              </a:gs>
              <a:gs pos="100000">
                <a:srgbClr val="4CAF5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28BDD9-4166-099E-618F-F97834020A8D}"/>
              </a:ext>
            </a:extLst>
          </p:cNvPr>
          <p:cNvSpPr txBox="1"/>
          <p:nvPr/>
        </p:nvSpPr>
        <p:spPr>
          <a:xfrm>
            <a:off x="368702" y="43250"/>
            <a:ext cx="2981842" cy="42902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 dirty="0">
                <a:solidFill>
                  <a:srgbClr val="FFFFFF"/>
                </a:solidFill>
                <a:latin typeface="Montserrat"/>
              </a:rPr>
              <a:t>Output</a:t>
            </a:r>
            <a:r>
              <a:rPr lang="en-IN" sz="2152" b="1" dirty="0">
                <a:solidFill>
                  <a:srgbClr val="FFFFFF"/>
                </a:solidFill>
                <a:latin typeface="Montserrat"/>
              </a:rPr>
              <a:t> in Website: </a:t>
            </a:r>
            <a:endParaRPr sz="2152" b="1" dirty="0">
              <a:solidFill>
                <a:srgbClr val="FFFFFF"/>
              </a:solidFill>
              <a:latin typeface="Montserra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28C855-8DEF-83A6-55EB-BFCFDE5F3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741" y="491943"/>
            <a:ext cx="12192000" cy="636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1629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1999"/>
          </a:xfrm>
          <a:prstGeom prst="rect">
            <a:avLst/>
          </a:prstGeom>
          <a:gradFill rotWithShape="1">
            <a:gsLst>
              <a:gs pos="0">
                <a:srgbClr val="2E7D32"/>
              </a:gs>
              <a:gs pos="100000">
                <a:srgbClr val="4CAF5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584" y="190499"/>
            <a:ext cx="1990675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</a:rPr>
              <a:t>Conclusion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1127448"/>
            <a:ext cx="285742" cy="2216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1525" y="1038773"/>
            <a:ext cx="3111686" cy="39895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E7D32"/>
                </a:solidFill>
                <a:latin typeface="Poppins"/>
              </a:rPr>
              <a:t>Key Achievements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584" y="1562100"/>
            <a:ext cx="5371965" cy="80010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275574" y="1896110"/>
            <a:ext cx="800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079" y="1807845"/>
            <a:ext cx="228594" cy="1943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2971" y="1677035"/>
            <a:ext cx="2387128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Poppins"/>
              </a:rPr>
              <a:t>High Accuracy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2971" y="1941612"/>
            <a:ext cx="3945247" cy="3077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E7D32"/>
                </a:solidFill>
                <a:latin typeface="Poppins"/>
              </a:rPr>
              <a:t>95%+</a:t>
            </a:r>
            <a:r>
              <a:rPr sz="1200" b="0">
                <a:solidFill>
                  <a:srgbClr val="4B5563"/>
                </a:solidFill>
                <a:latin typeface="Poppins"/>
              </a:rPr>
              <a:t> accuracy on 16-class disease classification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584" y="2476499"/>
            <a:ext cx="5371965" cy="80010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275574" y="2810509"/>
            <a:ext cx="800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0079" y="2730817"/>
            <a:ext cx="228594" cy="1771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2971" y="2591435"/>
            <a:ext cx="2092176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Poppins"/>
              </a:rPr>
              <a:t>Fast &amp; Lightweight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2971" y="2856013"/>
            <a:ext cx="2967415" cy="3077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E7D32"/>
                </a:solidFill>
                <a:latin typeface="Poppins"/>
              </a:rPr>
              <a:t>&lt;120ms</a:t>
            </a:r>
            <a:r>
              <a:rPr sz="1200" b="0">
                <a:solidFill>
                  <a:srgbClr val="4B5563"/>
                </a:solidFill>
                <a:latin typeface="Poppins"/>
              </a:rPr>
              <a:t> inference, </a:t>
            </a:r>
            <a:r>
              <a:rPr sz="1200" b="1">
                <a:solidFill>
                  <a:srgbClr val="2E7D32"/>
                </a:solidFill>
                <a:latin typeface="Poppins"/>
              </a:rPr>
              <a:t>13.8MB</a:t>
            </a:r>
            <a:r>
              <a:rPr sz="1200" b="0">
                <a:solidFill>
                  <a:srgbClr val="4B5563"/>
                </a:solidFill>
                <a:latin typeface="Poppins"/>
              </a:rPr>
              <a:t> model size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584" y="3390899"/>
            <a:ext cx="5371965" cy="80010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275574" y="3724909"/>
            <a:ext cx="800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0079" y="3650932"/>
            <a:ext cx="228594" cy="16573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42971" y="3505835"/>
            <a:ext cx="2598725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Poppins"/>
              </a:rPr>
              <a:t>User-Friendly Interface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2971" y="3770412"/>
            <a:ext cx="4323556" cy="3077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Poppins"/>
              </a:rPr>
              <a:t>Intuitive web interface requiring no technical expertise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584" y="4305300"/>
            <a:ext cx="5371965" cy="80010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275574" y="4639310"/>
            <a:ext cx="800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0079" y="4551045"/>
            <a:ext cx="228594" cy="19430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42971" y="4420235"/>
            <a:ext cx="2914516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Poppins"/>
              </a:rPr>
              <a:t>Comprehensive Database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2971" y="4684812"/>
            <a:ext cx="4039824" cy="3077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Poppins"/>
              </a:rPr>
              <a:t>Integrated remediation database with </a:t>
            </a:r>
            <a:r>
              <a:rPr sz="1200" b="1">
                <a:solidFill>
                  <a:srgbClr val="2E7D32"/>
                </a:solidFill>
                <a:latin typeface="Poppins"/>
              </a:rPr>
              <a:t>14 diseases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9584" y="5219700"/>
            <a:ext cx="5371965" cy="80010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275574" y="5553710"/>
            <a:ext cx="800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00079" y="5479732"/>
            <a:ext cx="228594" cy="16573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142971" y="5334635"/>
            <a:ext cx="2938561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Poppins"/>
              </a:rPr>
              <a:t>Production-Ready 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2971" y="5599212"/>
            <a:ext cx="4102341" cy="3077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Poppins"/>
              </a:rPr>
              <a:t>Flask API with robust error handling, offline-capable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10144" y="1115785"/>
            <a:ext cx="285742" cy="24492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572085" y="1085850"/>
            <a:ext cx="1857328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2E7D32"/>
                </a:solidFill>
                <a:latin typeface="Poppins"/>
              </a:rPr>
              <a:t>Impact &amp; Vision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0144" y="1562100"/>
            <a:ext cx="2628834" cy="1181099"/>
          </a:xfrm>
          <a:prstGeom prst="roundRect">
            <a:avLst>
              <a:gd name="adj" fmla="val 12903"/>
            </a:avLst>
          </a:prstGeom>
          <a:gradFill rotWithShape="1">
            <a:gsLst>
              <a:gs pos="0">
                <a:srgbClr val="F0FDF4"/>
              </a:gs>
              <a:gs pos="100000">
                <a:srgbClr val="DCFCE7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381690" y="1769317"/>
            <a:ext cx="285742" cy="23326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362540" y="2133599"/>
            <a:ext cx="232404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374151"/>
                </a:solidFill>
                <a:latin typeface="Poppins"/>
              </a:rPr>
              <a:t>For Farmers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62540" y="2400300"/>
            <a:ext cx="232404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Poppins"/>
              </a:rPr>
              <a:t>Affordable instant diagnosis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53276" y="1562100"/>
            <a:ext cx="2628834" cy="1181099"/>
          </a:xfrm>
          <a:prstGeom prst="roundRect">
            <a:avLst>
              <a:gd name="adj" fmla="val 12903"/>
            </a:avLst>
          </a:prstGeom>
          <a:gradFill rotWithShape="1">
            <a:gsLst>
              <a:gs pos="0">
                <a:srgbClr val="F0FDF4"/>
              </a:gs>
              <a:gs pos="100000">
                <a:srgbClr val="DCFCE7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124821" y="1807222"/>
            <a:ext cx="285742" cy="15745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105672" y="2133599"/>
            <a:ext cx="232404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374151"/>
                </a:solidFill>
                <a:latin typeface="Poppins"/>
              </a:rPr>
              <a:t>For Agriculture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05672" y="2400300"/>
            <a:ext cx="232404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Poppins"/>
              </a:rPr>
              <a:t>Scalable disease management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0144" y="2857500"/>
            <a:ext cx="2628834" cy="1181099"/>
          </a:xfrm>
          <a:prstGeom prst="roundRect">
            <a:avLst>
              <a:gd name="adj" fmla="val 12903"/>
            </a:avLst>
          </a:prstGeom>
          <a:gradFill rotWithShape="1">
            <a:gsLst>
              <a:gs pos="0">
                <a:srgbClr val="F0FDF4"/>
              </a:gs>
              <a:gs pos="100000">
                <a:srgbClr val="DCFCE7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381690" y="3079296"/>
            <a:ext cx="285742" cy="20410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362540" y="3429000"/>
            <a:ext cx="232404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374151"/>
                </a:solidFill>
                <a:latin typeface="Poppins"/>
              </a:rPr>
              <a:t>For Developing Regions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62540" y="3695699"/>
            <a:ext cx="232404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Poppins"/>
              </a:rPr>
              <a:t>Addresses expertise gap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53276" y="2857500"/>
            <a:ext cx="2628834" cy="1181099"/>
          </a:xfrm>
          <a:prstGeom prst="roundRect">
            <a:avLst>
              <a:gd name="adj" fmla="val 12903"/>
            </a:avLst>
          </a:prstGeom>
          <a:gradFill rotWithShape="1">
            <a:gsLst>
              <a:gs pos="0">
                <a:srgbClr val="F0FDF4"/>
              </a:gs>
              <a:gs pos="100000">
                <a:srgbClr val="DCFCE7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0124821" y="3070548"/>
            <a:ext cx="285742" cy="22160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105672" y="3429000"/>
            <a:ext cx="232404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374151"/>
                </a:solidFill>
                <a:latin typeface="Poppins"/>
              </a:rPr>
              <a:t>For Economy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05672" y="3695699"/>
            <a:ext cx="232404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Poppins"/>
              </a:rPr>
              <a:t>Prevents billions in losses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10144" y="4190999"/>
            <a:ext cx="5371965" cy="2495550"/>
          </a:xfrm>
          <a:prstGeom prst="roundRect">
            <a:avLst>
              <a:gd name="adj" fmla="val 6106"/>
            </a:avLst>
          </a:prstGeom>
          <a:solidFill>
            <a:srgbClr val="FFFFFF"/>
          </a:solidFill>
          <a:ln w="3302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400639" y="4527096"/>
            <a:ext cx="285742" cy="204107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800679" y="4419600"/>
            <a:ext cx="459093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F2937"/>
                </a:solidFill>
                <a:latin typeface="Poppins"/>
              </a:rPr>
              <a:t>Transformative Potential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00679" y="4762500"/>
            <a:ext cx="4590935" cy="17335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Poppins"/>
              </a:rPr>
              <a:t>This system democratizes agricultural disease diagnosis, empowering farmers worldwide to make informed decisions about crop management without expensive expert consultation. With scalability to additional crops and integration with IoT/precision agriculture technologies, the system has potential to revolutionize farming practices globally.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991350"/>
            <a:ext cx="12191695" cy="0"/>
          </a:xfrm>
          <a:prstGeom prst="rect">
            <a:avLst/>
          </a:prstGeom>
          <a:gradFill rotWithShape="1">
            <a:gsLst>
              <a:gs pos="0">
                <a:srgbClr val="81C784"/>
              </a:gs>
              <a:gs pos="50000">
                <a:srgbClr val="4CAF50"/>
              </a:gs>
              <a:gs pos="100000">
                <a:srgbClr val="2E7D32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1422</Words>
  <Application>Microsoft Office PowerPoint</Application>
  <PresentationFormat>Widescreen</PresentationFormat>
  <Paragraphs>377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Algerian</vt:lpstr>
      <vt:lpstr>Aptos</vt:lpstr>
      <vt:lpstr>Arial</vt:lpstr>
      <vt:lpstr>Calibri</vt:lpstr>
      <vt:lpstr>Montserrat</vt:lpstr>
      <vt:lpstr>Poppins</vt:lpstr>
      <vt:lpstr>SFMono-Regular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Chintu Kotti</cp:lastModifiedBy>
  <cp:revision>35</cp:revision>
  <dcterms:created xsi:type="dcterms:W3CDTF">2013-01-27T09:14:16Z</dcterms:created>
  <dcterms:modified xsi:type="dcterms:W3CDTF">2026-04-28T07:13:28Z</dcterms:modified>
  <cp:category/>
</cp:coreProperties>
</file>